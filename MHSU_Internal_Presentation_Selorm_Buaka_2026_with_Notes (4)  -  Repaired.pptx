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9" autoAdjust="0"/>
    <p:restoredTop sz="95037" autoAdjust="0"/>
  </p:normalViewPr>
  <p:slideViewPr>
    <p:cSldViewPr snapToGrid="0" snapToObjects="1">
      <p:cViewPr>
        <p:scale>
          <a:sx n="80" d="100"/>
          <a:sy n="80" d="100"/>
        </p:scale>
        <p:origin x="40" y="-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Comparable coverage (%)</c:v>
                </c:pt>
              </c:strCache>
            </c:strRef>
          </c:tx>
          <c:spPr>
            <a:solidFill>
              <a:srgbClr val="1B3A5C"/>
            </a:solidFill>
            <a:effectLst/>
          </c:spPr>
          <c:invertIfNegative val="0"/>
          <c:dPt>
            <c:idx val="0"/>
            <c:invertIfNegative val="0"/>
            <c:bubble3D val="0"/>
            <c:extLst>
              <c:ext xmlns:c16="http://schemas.microsoft.com/office/drawing/2014/chart" uri="{C3380CC4-5D6E-409C-BE32-E72D297353CC}">
                <c16:uniqueId val="{00000001-DC13-4FA2-8673-A2B6473C5DE2}"/>
              </c:ext>
            </c:extLst>
          </c:dPt>
          <c:dPt>
            <c:idx val="1"/>
            <c:invertIfNegative val="0"/>
            <c:bubble3D val="0"/>
            <c:spPr>
              <a:solidFill>
                <a:srgbClr val="2066A8"/>
              </a:solidFill>
              <a:effectLst/>
            </c:spPr>
            <c:extLst>
              <c:ext xmlns:c16="http://schemas.microsoft.com/office/drawing/2014/chart" uri="{C3380CC4-5D6E-409C-BE32-E72D297353CC}">
                <c16:uniqueId val="{00000003-DC13-4FA2-8673-A2B6473C5DE2}"/>
              </c:ext>
            </c:extLst>
          </c:dPt>
          <c:dPt>
            <c:idx val="2"/>
            <c:invertIfNegative val="0"/>
            <c:bubble3D val="0"/>
            <c:spPr>
              <a:solidFill>
                <a:srgbClr val="2066A8"/>
              </a:solidFill>
              <a:effectLst/>
            </c:spPr>
            <c:extLst>
              <c:ext xmlns:c16="http://schemas.microsoft.com/office/drawing/2014/chart" uri="{C3380CC4-5D6E-409C-BE32-E72D297353CC}">
                <c16:uniqueId val="{00000005-DC13-4FA2-8673-A2B6473C5DE2}"/>
              </c:ext>
            </c:extLst>
          </c:dPt>
          <c:dPt>
            <c:idx val="3"/>
            <c:invertIfNegative val="0"/>
            <c:bubble3D val="0"/>
            <c:spPr>
              <a:solidFill>
                <a:srgbClr val="B8860B"/>
              </a:solidFill>
              <a:effectLst/>
            </c:spPr>
            <c:extLst>
              <c:ext xmlns:c16="http://schemas.microsoft.com/office/drawing/2014/chart" uri="{C3380CC4-5D6E-409C-BE32-E72D297353CC}">
                <c16:uniqueId val="{00000007-DC13-4FA2-8673-A2B6473C5DE2}"/>
              </c:ext>
            </c:extLst>
          </c:dPt>
          <c:dPt>
            <c:idx val="4"/>
            <c:invertIfNegative val="0"/>
            <c:bubble3D val="0"/>
            <c:spPr>
              <a:solidFill>
                <a:srgbClr val="C9A86A"/>
              </a:solidFill>
              <a:effectLst/>
            </c:spPr>
            <c:extLst>
              <c:ext xmlns:c16="http://schemas.microsoft.com/office/drawing/2014/chart" uri="{C3380CC4-5D6E-409C-BE32-E72D297353CC}">
                <c16:uniqueId val="{00000009-DC13-4FA2-8673-A2B6473C5DE2}"/>
              </c:ext>
            </c:extLst>
          </c:dPt>
          <c:dPt>
            <c:idx val="5"/>
            <c:invertIfNegative val="0"/>
            <c:bubble3D val="0"/>
            <c:spPr>
              <a:solidFill>
                <a:srgbClr val="C9A86A"/>
              </a:solidFill>
              <a:effectLst/>
            </c:spPr>
            <c:extLst>
              <c:ext xmlns:c16="http://schemas.microsoft.com/office/drawing/2014/chart" uri="{C3380CC4-5D6E-409C-BE32-E72D297353CC}">
                <c16:uniqueId val="{0000000B-DC13-4FA2-8673-A2B6473C5DE2}"/>
              </c:ext>
            </c:extLst>
          </c:dPt>
          <c:dPt>
            <c:idx val="6"/>
            <c:invertIfNegative val="0"/>
            <c:bubble3D val="0"/>
            <c:spPr>
              <a:solidFill>
                <a:srgbClr val="C9A86A"/>
              </a:solidFill>
              <a:effectLst/>
            </c:spPr>
            <c:extLst>
              <c:ext xmlns:c16="http://schemas.microsoft.com/office/drawing/2014/chart" uri="{C3380CC4-5D6E-409C-BE32-E72D297353CC}">
                <c16:uniqueId val="{0000000D-DC13-4FA2-8673-A2B6473C5DE2}"/>
              </c:ext>
            </c:extLst>
          </c:dPt>
          <c:dLbls>
            <c:numFmt formatCode="0.0&quot;%&quot;" sourceLinked="0"/>
            <c:spPr>
              <a:noFill/>
              <a:ln>
                <a:noFill/>
              </a:ln>
              <a:effectLst/>
            </c:spPr>
            <c:txPr>
              <a:bodyPr/>
              <a:lstStyle/>
              <a:p>
                <a:pPr>
                  <a:defRPr sz="1100" b="0" i="0" u="none" strike="noStrike">
                    <a:solidFill>
                      <a:srgbClr val="1B3A5C"/>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HKCS 2025 (HS)</c:v>
                </c:pt>
                <c:pt idx="1">
                  <c:v>PSD Connections (Elem.)</c:v>
                </c:pt>
                <c:pt idx="2">
                  <c:v>PSD Connections (Sec.)</c:v>
                </c:pt>
                <c:pt idx="3">
                  <c:v>TSD Panorama S&amp;E</c:v>
                </c:pt>
                <c:pt idx="4">
                  <c:v>EPSD Panorama SEL</c:v>
                </c:pt>
                <c:pt idx="5">
                  <c:v>EPSD CO-SPS (HS)</c:v>
                </c:pt>
                <c:pt idx="6">
                  <c:v>EPSD CO-SPS (Elem.)</c:v>
                </c:pt>
              </c:strCache>
            </c:strRef>
          </c:cat>
          <c:val>
            <c:numRef>
              <c:f>Sheet1!$B$2:$B$8</c:f>
              <c:numCache>
                <c:formatCode>General</c:formatCode>
                <c:ptCount val="7"/>
                <c:pt idx="0">
                  <c:v>48.6</c:v>
                </c:pt>
                <c:pt idx="1">
                  <c:v>43.2</c:v>
                </c:pt>
                <c:pt idx="2">
                  <c:v>40.5</c:v>
                </c:pt>
                <c:pt idx="3">
                  <c:v>21.6</c:v>
                </c:pt>
                <c:pt idx="4">
                  <c:v>13.5</c:v>
                </c:pt>
                <c:pt idx="5">
                  <c:v>10.8</c:v>
                </c:pt>
                <c:pt idx="6">
                  <c:v>10.8</c:v>
                </c:pt>
              </c:numCache>
            </c:numRef>
          </c:val>
          <c:extLst>
            <c:ext xmlns:c16="http://schemas.microsoft.com/office/drawing/2014/chart" uri="{C3380CC4-5D6E-409C-BE32-E72D297353CC}">
              <c16:uniqueId val="{0000000E-DC13-4FA2-8673-A2B6473C5DE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3A5C"/>
                </a:solidFill>
                <a:latin typeface="Calibri"/>
              </a:defRPr>
            </a:pPr>
            <a:endParaRPr lang="en-US"/>
          </a:p>
        </c:txPr>
        <c:crossAx val="2094734552"/>
        <c:crosses val="autoZero"/>
        <c:auto val="1"/>
        <c:lblAlgn val="ctr"/>
        <c:lblOffset val="100"/>
        <c:noMultiLvlLbl val="1"/>
      </c:catAx>
      <c:valAx>
        <c:axId val="2094734552"/>
        <c:scaling>
          <c:orientation val="minMax"/>
          <c:max val="60"/>
        </c:scaling>
        <c:delete val="0"/>
        <c:axPos val="b"/>
        <c:majorGridlines>
          <c:spPr>
            <a:ln w="9525" cap="flat">
              <a:solidFill>
                <a:srgbClr val="E5EA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B7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3A5C"/>
                </a:solidFill>
                <a:latin typeface="Cambria"/>
              </a:defRPr>
            </a:pPr>
            <a:r>
              <a:rPr lang="en-US" sz="1400" b="0" i="0" u="none" strike="noStrike">
                <a:solidFill>
                  <a:srgbClr val="1B3A5C"/>
                </a:solidFill>
                <a:latin typeface="Cambria"/>
              </a:rPr>
              <a:t>Same Survey, Same Year, Different Reality</a:t>
            </a:r>
          </a:p>
        </c:rich>
      </c:tx>
      <c:overlay val="0"/>
    </c:title>
    <c:autoTitleDeleted val="0"/>
    <c:plotArea>
      <c:layout/>
      <c:barChart>
        <c:barDir val="col"/>
        <c:grouping val="clustered"/>
        <c:varyColors val="0"/>
        <c:ser>
          <c:idx val="0"/>
          <c:order val="0"/>
          <c:tx>
            <c:strRef>
              <c:f>Sheet1!$B$1</c:f>
              <c:strCache>
                <c:ptCount val="1"/>
                <c:pt idx="0">
                  <c:v>Persistent sadness / hopelessness (%)</c:v>
                </c:pt>
              </c:strCache>
            </c:strRef>
          </c:tx>
          <c:spPr>
            <a:solidFill>
              <a:srgbClr val="1B3A5C"/>
            </a:solidFill>
            <a:effectLst/>
          </c:spPr>
          <c:invertIfNegative val="0"/>
          <c:dPt>
            <c:idx val="0"/>
            <c:invertIfNegative val="0"/>
            <c:bubble3D val="0"/>
            <c:extLst>
              <c:ext xmlns:c16="http://schemas.microsoft.com/office/drawing/2014/chart" uri="{C3380CC4-5D6E-409C-BE32-E72D297353CC}">
                <c16:uniqueId val="{00000001-BE0D-4EB4-B1C5-591F560827B2}"/>
              </c:ext>
            </c:extLst>
          </c:dPt>
          <c:dPt>
            <c:idx val="1"/>
            <c:invertIfNegative val="0"/>
            <c:bubble3D val="0"/>
            <c:spPr>
              <a:solidFill>
                <a:srgbClr val="2066A8"/>
              </a:solidFill>
              <a:effectLst/>
            </c:spPr>
            <c:extLst>
              <c:ext xmlns:c16="http://schemas.microsoft.com/office/drawing/2014/chart" uri="{C3380CC4-5D6E-409C-BE32-E72D297353CC}">
                <c16:uniqueId val="{00000003-BE0D-4EB4-B1C5-591F560827B2}"/>
              </c:ext>
            </c:extLst>
          </c:dPt>
          <c:dPt>
            <c:idx val="2"/>
            <c:invertIfNegative val="0"/>
            <c:bubble3D val="0"/>
            <c:spPr>
              <a:solidFill>
                <a:srgbClr val="B8860B"/>
              </a:solidFill>
              <a:effectLst/>
            </c:spPr>
            <c:extLst>
              <c:ext xmlns:c16="http://schemas.microsoft.com/office/drawing/2014/chart" uri="{C3380CC4-5D6E-409C-BE32-E72D297353CC}">
                <c16:uniqueId val="{00000005-BE0D-4EB4-B1C5-591F560827B2}"/>
              </c:ext>
            </c:extLst>
          </c:dPt>
          <c:dPt>
            <c:idx val="3"/>
            <c:invertIfNegative val="0"/>
            <c:bubble3D val="0"/>
            <c:spPr>
              <a:solidFill>
                <a:srgbClr val="B23A48"/>
              </a:solidFill>
              <a:effectLst/>
            </c:spPr>
            <c:extLst>
              <c:ext xmlns:c16="http://schemas.microsoft.com/office/drawing/2014/chart" uri="{C3380CC4-5D6E-409C-BE32-E72D297353CC}">
                <c16:uniqueId val="{00000007-BE0D-4EB4-B1C5-591F560827B2}"/>
              </c:ext>
            </c:extLst>
          </c:dPt>
          <c:dLbls>
            <c:numFmt formatCode="0.0&quot;%&quot;" sourceLinked="0"/>
            <c:spPr>
              <a:noFill/>
              <a:ln>
                <a:noFill/>
              </a:ln>
              <a:effectLst/>
            </c:spPr>
            <c:txPr>
              <a:bodyPr/>
              <a:lstStyle/>
              <a:p>
                <a:pPr>
                  <a:defRPr sz="1200" b="0" i="0" u="none" strike="noStrike">
                    <a:solidFill>
                      <a:srgbClr val="1B3A5C"/>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Larimer County
Overall</c:v>
                </c:pt>
                <c:pt idx="1">
                  <c:v>White
Students</c:v>
                </c:pt>
                <c:pt idx="2">
                  <c:v>Hispanic /
Latino Students</c:v>
                </c:pt>
                <c:pt idx="3">
                  <c:v>Transgender
Students</c:v>
                </c:pt>
              </c:strCache>
            </c:strRef>
          </c:cat>
          <c:val>
            <c:numRef>
              <c:f>Sheet1!$B$2:$B$5</c:f>
              <c:numCache>
                <c:formatCode>General</c:formatCode>
                <c:ptCount val="4"/>
                <c:pt idx="0">
                  <c:v>25.2</c:v>
                </c:pt>
                <c:pt idx="1">
                  <c:v>23.6</c:v>
                </c:pt>
                <c:pt idx="2">
                  <c:v>29.6</c:v>
                </c:pt>
                <c:pt idx="3">
                  <c:v>66.400000000000006</c:v>
                </c:pt>
              </c:numCache>
            </c:numRef>
          </c:val>
          <c:extLst>
            <c:ext xmlns:c16="http://schemas.microsoft.com/office/drawing/2014/chart" uri="{C3380CC4-5D6E-409C-BE32-E72D297353CC}">
              <c16:uniqueId val="{00000008-BE0D-4EB4-B1C5-591F560827B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A6B7A"/>
                </a:solidFill>
                <a:latin typeface="Calibri"/>
              </a:defRPr>
            </a:pPr>
            <a:endParaRPr lang="en-US"/>
          </a:p>
        </c:txPr>
        <c:crossAx val="2094734552"/>
        <c:crosses val="autoZero"/>
        <c:auto val="1"/>
        <c:lblAlgn val="ctr"/>
        <c:lblOffset val="100"/>
        <c:noMultiLvlLbl val="1"/>
      </c:catAx>
      <c:valAx>
        <c:axId val="2094734552"/>
        <c:scaling>
          <c:orientation val="minMax"/>
          <c:max val="75"/>
        </c:scaling>
        <c:delete val="0"/>
        <c:axPos val="l"/>
        <c:majorGridlines>
          <c:spPr>
            <a:ln w="9525" cap="flat">
              <a:solidFill>
                <a:srgbClr val="E5EA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B7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3A5C"/>
                </a:solidFill>
                <a:latin typeface="Cambria"/>
              </a:defRPr>
            </a:pPr>
            <a:r>
              <a:rPr lang="en-US" sz="1300" b="0" i="0" u="none" strike="noStrike">
                <a:solidFill>
                  <a:srgbClr val="1B3A5C"/>
                </a:solidFill>
                <a:latin typeface="Cambria"/>
              </a:rPr>
              <a:t>Larimer County Trend</a:t>
            </a:r>
          </a:p>
        </c:rich>
      </c:tx>
      <c:overlay val="0"/>
    </c:title>
    <c:autoTitleDeleted val="0"/>
    <c:plotArea>
      <c:layout/>
      <c:lineChart>
        <c:grouping val="standard"/>
        <c:varyColors val="0"/>
        <c:ser>
          <c:idx val="0"/>
          <c:order val="0"/>
          <c:tx>
            <c:strRef>
              <c:f>Sheet1!$B$1</c:f>
              <c:strCache>
                <c:ptCount val="1"/>
                <c:pt idx="0">
                  <c:v>Persistent sadness / hopelessness (%)</c:v>
                </c:pt>
              </c:strCache>
            </c:strRef>
          </c:tx>
          <c:spPr>
            <a:ln w="38100" cap="flat">
              <a:solidFill>
                <a:srgbClr val="B8860B"/>
              </a:solidFill>
              <a:prstDash val="solid"/>
              <a:round/>
            </a:ln>
            <a:effectLst/>
          </c:spPr>
          <c:marker>
            <c:symbol val="circle"/>
            <c:size val="8"/>
            <c:spPr>
              <a:solidFill>
                <a:srgbClr val="B8860B"/>
              </a:solidFill>
              <a:ln w="9525" cap="flat">
                <a:solidFill>
                  <a:srgbClr val="B8860B"/>
                </a:solidFill>
                <a:prstDash val="solid"/>
                <a:round/>
              </a:ln>
              <a:effectLst/>
            </c:spPr>
          </c:marker>
          <c:dLbls>
            <c:numFmt formatCode="0.0&quot;%&quot;" sourceLinked="0"/>
            <c:spPr>
              <a:noFill/>
              <a:ln>
                <a:noFill/>
              </a:ln>
              <a:effectLst/>
            </c:spPr>
            <c:txPr>
              <a:bodyPr/>
              <a:lstStyle/>
              <a:p>
                <a:pPr>
                  <a:defRPr sz="1100" b="0" i="0" u="none" strike="noStrike">
                    <a:solidFill>
                      <a:srgbClr val="1B3A5C"/>
                    </a:solidFill>
                    <a:latin typeface="Calibri"/>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2019</c:v>
                </c:pt>
                <c:pt idx="1">
                  <c:v>2021</c:v>
                </c:pt>
                <c:pt idx="2">
                  <c:v>2023</c:v>
                </c:pt>
              </c:strCache>
            </c:strRef>
          </c:cat>
          <c:val>
            <c:numRef>
              <c:f>Sheet1!$B$2:$B$4</c:f>
              <c:numCache>
                <c:formatCode>General</c:formatCode>
                <c:ptCount val="3"/>
                <c:pt idx="0">
                  <c:v>34.6</c:v>
                </c:pt>
                <c:pt idx="1">
                  <c:v>41.3</c:v>
                </c:pt>
                <c:pt idx="2">
                  <c:v>25.2</c:v>
                </c:pt>
              </c:numCache>
            </c:numRef>
          </c:val>
          <c:smooth val="0"/>
          <c:extLst>
            <c:ext xmlns:c16="http://schemas.microsoft.com/office/drawing/2014/chart" uri="{C3380CC4-5D6E-409C-BE32-E72D297353CC}">
              <c16:uniqueId val="{00000000-D7EB-4AC4-8EAD-56AC9DA1761B}"/>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B7A"/>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77069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Hey everyone, thanks for making time for this. I'm Selorm. I've been working with the MHSU Alliance all summer on this project. Since it's just us in the room, I'm not going to do a big pitch. I want to walk through what I actually found, what I'm recommending, and be upfront about what still needs your input before any of this goes near district leadership. Let's just get into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here's the starting point. In the 2023 county survey, a quarter of our high schoolers said they'd felt persistently sad or hopeless, and almost one in eight had seriously thought about suicide. Weist's research explains part of why we miss this: only about a third of kids who need help actually get it, because our systems are built to notice kids acting out, not kids going quiet. That's the pattern here too. The students carrying the most usually aren't the ones causing trouble. They just fade into the background. That's basically the whole reason this project exists.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the encouraging part. The county already put real money behind this: voters passed a 20-year tax back in 2018, it's generating $24.5 million a year now, and that's funded actual infrastructure, 77 organizations getting grant support. What's missing isn't money or will, it's a shared way to actually measure how kids are doing at the school level, so that funding gets pointed where it's needed. None of our three districts have that right now. And the county's own strategic plan already lists shared metrics as a priority, so this isn't me inventing a new ask. It's catching up to something the county already said it wants.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Quick rundown of what I actually built: bibliography first, to get the research grounding right. Then the environmental scan of what each district currently measures. Then the full crosswalk: 37 constructs, seven instruments. And finally the metric recommendations. One thing worth flagging: while building this, I found three real contradictions between the crosswalk findings and an earlier draft of the recommendations. I fixed all three in favor of the crosswalk, since it's the more carefully checked document. Figured you'd rather hear that from me now than find it later. We're also ahead of schedule. Four deliverables done and signed off already.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what I found once I laid everything side by side. Seven instruments running across our three districts plus the HKCS, and basically none of them ask things the same way: different wording, different scales, different timing. So comparing across districts right now is pretty much impossible, and that's nobody's fault, they just weren't built to talk to each other. But here's the part that actually matters: none of our three districts collect annual, school-level data on persistent sadness, suicidal ideation, self-harm, or racism. Those are exactly the things that would tell a counselor which kid needs help. And right now, nobody's asking.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chart's basically asking, how much of the full picture does each survey already cover? I coded all 37 constructs against the HKCS as the baseline. V and W mean the wording lines up closely, C means it's the same idea asked a different way. PSD's two surveys cover the most, low forties percent. TSD's around twenty-two. EPSD's lowest, around eleven to thirteen. I want to be careful here though. That's not EPSD doing anything wrong. It's a smaller district, less survey infrastructure built up over the years. This chart's measuring overlap with HKCS, not measuring who's doing a better job.</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Okay, if I only had time for one slide, it'd be this one. County average for persistent sadness is 25.2 percent. Sounds manageable, right? Same data, broken out: White students, 23.6. Hispanic and Latino students, 29.6. Transgender students, 66.4. Same survey, same year, same county. That average was hiding two-thirds of an entire group of kids. This is basically my whole argument for why every metric we adopt has to come disaggregated from day one, not tacked on as a follow-up report six months later.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this splits things into what's already measured somewhere versus what's measured nowhere. On the left, stress manageability's a good one. HKCS and PSD literally use the same wording, just different scales. Trusted adult, belonging, safety: multiple instruments touch these, just not in ways you can directly compare yet. The right side's the harder list: persistent sadness, suicidal thoughts, plans, attempts, self-harm, racism. Nobody measures any of that right now. Racism especially, that's the only question anywhere in our whole survey ecosystem that asks kids about it directly. That's the gap I built the recommendations around.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I get into the actual recommendation, worth remembering these three districts aren't starting from the same place. Estes Park's small, 905 kids, and because of that size a lot of their data gets suppressed in state reporting, so they're basically invisible in any regional comparison. Poudre's huge, over 28,000 students, and honestly has the best data setup of the three: five years of trend data off their Connections survey. Thompson's in the middle. Real MTSS department, screening system already running, but their HKCS participation is only in some schools right now, not districtwide. That's going to matter for how I sequenced the rollout.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Alright, here's the actual recommendation. Nine items, four tiers. Primary is persistent sadness. I'll go deep on that next slide. Tier 1's the near-zero-cost stuff: stress manageability, trusted adult, belonging, school safety. Tier 2 extends things further: mental health frequency, help-seeking, food security. Racism sits on its own as the equity supplement, because I don't think it should be optional. Every one of these got scored the same way: how common it is, how big the equity gap is, whether anyone already measures it, and whether it's actually doable, including for Estes Park specifically, since they're our tightest on capacity. And the one rule that applies to all nine: disaggregated by default, not bolted on later.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one I'd spend the most time on. The recommendation's simple: add this exact HKCS question, word for word, to all three districts. Did a student feel so sad or hopeless for two weeks or more that they stopped doing normal things. Yes or no. Why this one first? Look at the trend line. It's the longest, most consistent one in the whole survey, and it actually moved: 34.6, up to 41.3, back down to 25.2. So we know it responds to real change, not just noise. It's also catching exactly the kids our current systems miss: the quiet ones, not the disruptive ones. And since the wording's already been tested through three survey cycles, whichever district adopts it, their numbers are comparable to the county baseline right away, nothing new to validate. Look at that equity split at the bottom too: 25 percent overall, 66 percent for transgender students. Forty-point gap, same year, same survey.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None of this has to happen all at once, and it's not a mandate. The Alliance's job is to coordinate, not require anything. I split it into three phases. Phase one's ready now: stress manageability, trusted adult, safety, belonging. No new protocols needed, this is doable this school year. Phase two's the sensitive stuff: sadness, mental health frequency, racism. I want those paired with trauma-informed protocols before they go out, since they're touching real stuff directly. Phase three's help-seeking and food security, once districts have some breathing room. And again, disaggregated from the first time any of this gets administered, every phase, no exceptions.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want to be straight with you about what's actually confirmed versus what's still open, because I'd rather this room catch a gap than a district partner catch it later. Confirmed: all 37 constructs, source-verified, not estimated. TSD's schedule, confirmed directly with Jennifer Guthals. PSD's timing, and the fact it's not anonymous, confirmed through the Health District. HKCS's trusted-adult wording, verified against the full report. Still open: EPSD's timing is assumed, not confirmed yet, Health District's following up. Honestly, I couldn't locate that 54.2 percent help-seeking number anywhere in the 169-table report, so treat it as provisional for now. HKCS participation varies by district, so the county number shouldn't get presented as any one district's own result. And PSD's internal scoring might group things differently than how I've set this up, so check with Dayna before using their composites as a stand-in for anything specific here. None of this changes the recommendation. Just better to know now than later.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Where this goes from here. D4 is done, it went to Shelley for review and she approved it, so that gate is already cleared. First thing left: building out the external materials, briefs, summaries, now, so they are ready whenever districts have bandwidth this fall. Second, actually sharing this with EPSD, PSD, and TSD leadership once things ease up. Third, the closeout itself, a final meeting with Shelley to wrap the internship and hand off everything cleanly. One thing that is not on here, on purpose: the screening tool evaluation that was originally part of this got cancelled a while back. That was a mutual call, districts weren't at a point where it would be useful yet. So that is intentionally missing, not forgotten. And we are still ahead of schedule overall: four of six deliverables done and approved.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that's everything: what I found, what I'm recommending, and where I think we've still got open questions. Before this goes anywhere near district leadership, I'd honestly rather hear it from you all first. What's making you nervous about this, what needs more digging, what would you push back on. Better to deal with that here than after it's already in front of EPSD, PSD, and TSD. So, where do you want to start?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93F"/>
        </a:solidFill>
        <a:effectLst/>
      </p:bgPr>
    </p:bg>
    <p:spTree>
      <p:nvGrpSpPr>
        <p:cNvPr id="1" name=""/>
        <p:cNvGrpSpPr/>
        <p:nvPr/>
      </p:nvGrpSpPr>
      <p:grpSpPr>
        <a:xfrm>
          <a:off x="0" y="0"/>
          <a:ext cx="0" cy="0"/>
          <a:chOff x="0" y="0"/>
          <a:chExt cx="0" cy="0"/>
        </a:xfrm>
      </p:grpSpPr>
      <p:sp>
        <p:nvSpPr>
          <p:cNvPr id="2" name="Shape 0"/>
          <p:cNvSpPr/>
          <p:nvPr/>
        </p:nvSpPr>
        <p:spPr>
          <a:xfrm>
            <a:off x="9418320" y="4206240"/>
            <a:ext cx="5029200" cy="5029200"/>
          </a:xfrm>
          <a:prstGeom prst="ellipse">
            <a:avLst/>
          </a:prstGeom>
          <a:solidFill>
            <a:srgbClr val="1B3A5C">
              <a:alpha val="60000"/>
            </a:srgbClr>
          </a:solidFill>
          <a:ln/>
        </p:spPr>
        <p:txBody>
          <a:bodyPr/>
          <a:lstStyle/>
          <a:p>
            <a:endParaRPr lang="en-US"/>
          </a:p>
        </p:txBody>
      </p:sp>
      <p:sp>
        <p:nvSpPr>
          <p:cNvPr id="3" name="Shape 1"/>
          <p:cNvSpPr/>
          <p:nvPr/>
        </p:nvSpPr>
        <p:spPr>
          <a:xfrm>
            <a:off x="10424160" y="5120640"/>
            <a:ext cx="3657600" cy="3657600"/>
          </a:xfrm>
          <a:prstGeom prst="ellipse">
            <a:avLst/>
          </a:prstGeom>
          <a:solidFill>
            <a:srgbClr val="2066A8">
              <a:alpha val="45000"/>
            </a:srgbClr>
          </a:solidFill>
          <a:ln/>
        </p:spPr>
        <p:txBody>
          <a:bodyPr/>
          <a:lstStyle/>
          <a:p>
            <a:endParaRPr lang="en-US"/>
          </a:p>
        </p:txBody>
      </p:sp>
      <p:sp>
        <p:nvSpPr>
          <p:cNvPr id="4" name="Text 2"/>
          <p:cNvSpPr/>
          <p:nvPr/>
        </p:nvSpPr>
        <p:spPr>
          <a:xfrm>
            <a:off x="640080" y="1530627"/>
            <a:ext cx="7315200" cy="365760"/>
          </a:xfrm>
          <a:prstGeom prst="rect">
            <a:avLst/>
          </a:prstGeom>
          <a:noFill/>
          <a:ln/>
        </p:spPr>
        <p:txBody>
          <a:bodyPr wrap="square" rtlCol="0" anchor="ctr"/>
          <a:lstStyle/>
          <a:p>
            <a:pPr marL="0" indent="0">
              <a:buNone/>
            </a:pPr>
            <a:r>
              <a:rPr lang="en-US" sz="1400" b="1" kern="0" spc="200" dirty="0">
                <a:solidFill>
                  <a:srgbClr val="B8860B"/>
                </a:solidFill>
                <a:latin typeface="Calibri" pitchFamily="34" charset="0"/>
                <a:ea typeface="Calibri" pitchFamily="34" charset="-122"/>
                <a:cs typeface="Calibri" pitchFamily="34" charset="-120"/>
              </a:rPr>
              <a:t>MHSU ALLIANCE  •  SUMMER 2026</a:t>
            </a:r>
          </a:p>
          <a:p>
            <a:r>
              <a:rPr lang="en-US" sz="2400" b="1" dirty="0">
                <a:solidFill>
                  <a:schemeClr val="accent6"/>
                </a:solidFill>
                <a:latin typeface="Calibri" pitchFamily="34" charset="0"/>
                <a:ea typeface="Calibri" pitchFamily="34" charset="-122"/>
                <a:cs typeface="Calibri" pitchFamily="34" charset="-120"/>
              </a:rPr>
              <a:t>Health District of Northern Larimer County</a:t>
            </a:r>
          </a:p>
          <a:p>
            <a:endParaRPr lang="en-US" sz="2400" b="1" dirty="0">
              <a:solidFill>
                <a:schemeClr val="accent6"/>
              </a:solidFill>
            </a:endParaRPr>
          </a:p>
          <a:p>
            <a:pPr marL="0" indent="0">
              <a:buNone/>
            </a:pPr>
            <a:endParaRPr lang="en-US" sz="1400" dirty="0"/>
          </a:p>
        </p:txBody>
      </p:sp>
      <p:sp>
        <p:nvSpPr>
          <p:cNvPr id="5" name="Text 3"/>
          <p:cNvSpPr/>
          <p:nvPr/>
        </p:nvSpPr>
        <p:spPr>
          <a:xfrm>
            <a:off x="640080" y="1965960"/>
            <a:ext cx="9601200" cy="1828800"/>
          </a:xfrm>
          <a:prstGeom prst="rect">
            <a:avLst/>
          </a:prstGeom>
          <a:noFill/>
          <a:ln/>
        </p:spPr>
        <p:txBody>
          <a:bodyPr wrap="square" rtlCol="0" anchor="ctr"/>
          <a:lstStyle/>
          <a:p>
            <a:pPr marL="0" indent="0">
              <a:lnSpc>
                <a:spcPts val="4400"/>
              </a:lnSpc>
              <a:buNone/>
            </a:pPr>
            <a:r>
              <a:rPr lang="en-US" sz="4000" b="1" dirty="0">
                <a:solidFill>
                  <a:srgbClr val="FFFFFF"/>
                </a:solidFill>
                <a:latin typeface="Cambria" pitchFamily="34" charset="0"/>
                <a:ea typeface="Cambria" pitchFamily="34" charset="-122"/>
                <a:cs typeface="Cambria" pitchFamily="34" charset="-120"/>
              </a:rPr>
              <a:t>Advancing a Collaborative</a:t>
            </a:r>
            <a:endParaRPr lang="en-US" sz="4000" dirty="0"/>
          </a:p>
          <a:p>
            <a:pPr marL="0" indent="0">
              <a:lnSpc>
                <a:spcPts val="4400"/>
              </a:lnSpc>
              <a:buNone/>
            </a:pPr>
            <a:r>
              <a:rPr lang="en-US" sz="4000" b="1" dirty="0">
                <a:solidFill>
                  <a:srgbClr val="FFFFFF"/>
                </a:solidFill>
                <a:latin typeface="Cambria" pitchFamily="34" charset="0"/>
                <a:ea typeface="Cambria" pitchFamily="34" charset="-122"/>
                <a:cs typeface="Cambria" pitchFamily="34" charset="-120"/>
              </a:rPr>
              <a:t>Youth Behavioral Health Data Strategy</a:t>
            </a:r>
            <a:endParaRPr lang="en-US" sz="4000" dirty="0"/>
          </a:p>
        </p:txBody>
      </p:sp>
      <p:sp>
        <p:nvSpPr>
          <p:cNvPr id="6" name="Text 4"/>
          <p:cNvSpPr/>
          <p:nvPr/>
        </p:nvSpPr>
        <p:spPr>
          <a:xfrm>
            <a:off x="640080" y="3703320"/>
            <a:ext cx="8686800" cy="548640"/>
          </a:xfrm>
          <a:prstGeom prst="rect">
            <a:avLst/>
          </a:prstGeom>
          <a:noFill/>
          <a:ln/>
        </p:spPr>
        <p:txBody>
          <a:bodyPr wrap="square" rtlCol="0" anchor="ctr"/>
          <a:lstStyle/>
          <a:p>
            <a:pPr marL="0" indent="0">
              <a:buNone/>
            </a:pPr>
            <a:r>
              <a:rPr lang="en-US" sz="1700" i="1" dirty="0">
                <a:solidFill>
                  <a:srgbClr val="CADCE8"/>
                </a:solidFill>
                <a:latin typeface="Calibri" pitchFamily="34" charset="0"/>
                <a:ea typeface="Calibri" pitchFamily="34" charset="-122"/>
                <a:cs typeface="Calibri" pitchFamily="34" charset="-120"/>
              </a:rPr>
              <a:t>Findings &amp; Recommendations for a Shared Cross-District Data Foundation</a:t>
            </a:r>
            <a:endParaRPr lang="en-US" sz="1700" dirty="0"/>
          </a:p>
        </p:txBody>
      </p:sp>
      <p:sp>
        <p:nvSpPr>
          <p:cNvPr id="7" name="Text 5"/>
          <p:cNvSpPr/>
          <p:nvPr/>
        </p:nvSpPr>
        <p:spPr>
          <a:xfrm>
            <a:off x="640080" y="4709160"/>
            <a:ext cx="7315200" cy="365760"/>
          </a:xfrm>
          <a:prstGeom prst="rect">
            <a:avLst/>
          </a:prstGeom>
          <a:noFill/>
          <a:ln/>
        </p:spPr>
        <p:txBody>
          <a:bodyPr wrap="square" rtlCol="0" anchor="ctr"/>
          <a:lstStyle/>
          <a:p>
            <a:pPr marL="0" indent="0">
              <a:buNone/>
            </a:pPr>
            <a:r>
              <a:rPr lang="en-US" sz="1400" b="1" dirty="0">
                <a:solidFill>
                  <a:srgbClr val="B8860B"/>
                </a:solidFill>
                <a:latin typeface="Calibri" pitchFamily="34" charset="0"/>
                <a:ea typeface="Calibri" pitchFamily="34" charset="-122"/>
                <a:cs typeface="Calibri" pitchFamily="34" charset="-120"/>
              </a:rPr>
              <a:t>Internal Health District Briefing</a:t>
            </a:r>
            <a:endParaRPr lang="en-US" sz="1400" dirty="0"/>
          </a:p>
        </p:txBody>
      </p:sp>
      <p:sp>
        <p:nvSpPr>
          <p:cNvPr id="8" name="Text 6"/>
          <p:cNvSpPr/>
          <p:nvPr/>
        </p:nvSpPr>
        <p:spPr>
          <a:xfrm>
            <a:off x="640080" y="5989320"/>
            <a:ext cx="8229600" cy="548640"/>
          </a:xfrm>
          <a:prstGeom prst="rect">
            <a:avLst/>
          </a:prstGeom>
          <a:noFill/>
          <a:ln/>
        </p:spPr>
        <p:txBody>
          <a:bodyPr wrap="square" rtlCol="0" anchor="ctr"/>
          <a:lstStyle/>
          <a:p>
            <a:pPr marL="0" indent="0">
              <a:buNone/>
            </a:pPr>
            <a:r>
              <a:rPr lang="en-US" sz="1150" dirty="0">
                <a:solidFill>
                  <a:srgbClr val="9FB3C8"/>
                </a:solidFill>
                <a:latin typeface="Calibri" pitchFamily="34" charset="0"/>
                <a:ea typeface="Calibri" pitchFamily="34" charset="-122"/>
                <a:cs typeface="Calibri" pitchFamily="34" charset="-120"/>
              </a:rPr>
              <a:t>Prepared by Selorm Buaka  </a:t>
            </a:r>
            <a:endParaRPr lang="en-US" sz="1150" dirty="0"/>
          </a:p>
          <a:p>
            <a:pPr marL="0" indent="0">
              <a:buNone/>
            </a:pP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marL="0" indent="0">
              <a:buNone/>
            </a:pPr>
            <a:r>
              <a:rPr lang="en-US" sz="1250" b="1" kern="0" spc="150" dirty="0">
                <a:solidFill>
                  <a:srgbClr val="2066A8"/>
                </a:solidFill>
                <a:latin typeface="Calibri" pitchFamily="34" charset="0"/>
                <a:ea typeface="Calibri" pitchFamily="34" charset="-122"/>
                <a:cs typeface="Calibri" pitchFamily="34" charset="-120"/>
              </a:rPr>
              <a:t>THE CASE FOR THIS WORK</a:t>
            </a:r>
            <a:endParaRPr lang="en-US" sz="1250" dirty="0"/>
          </a:p>
        </p:txBody>
      </p:sp>
      <p:sp>
        <p:nvSpPr>
          <p:cNvPr id="3" name="Text 1"/>
          <p:cNvSpPr/>
          <p:nvPr/>
        </p:nvSpPr>
        <p:spPr>
          <a:xfrm>
            <a:off x="502920" y="685800"/>
            <a:ext cx="11155680" cy="777240"/>
          </a:xfrm>
          <a:prstGeom prst="rect">
            <a:avLst/>
          </a:prstGeom>
          <a:noFill/>
          <a:ln/>
        </p:spPr>
        <p:txBody>
          <a:bodyPr wrap="square" rtlCol="0" anchor="ctr"/>
          <a:lstStyle/>
          <a:p>
            <a:pPr marL="0" indent="0">
              <a:buNone/>
            </a:pPr>
            <a:r>
              <a:rPr lang="en-US" sz="2900" b="1" dirty="0">
                <a:solidFill>
                  <a:srgbClr val="1B3A5C"/>
                </a:solidFill>
                <a:latin typeface="Cambria" pitchFamily="34" charset="0"/>
                <a:ea typeface="Cambria" pitchFamily="34" charset="-122"/>
                <a:cs typeface="Cambria" pitchFamily="34" charset="-120"/>
              </a:rPr>
              <a:t>Every day, students carry more than their backpacks</a:t>
            </a:r>
            <a:endParaRPr lang="en-US" sz="2900" dirty="0"/>
          </a:p>
        </p:txBody>
      </p:sp>
      <p:sp>
        <p:nvSpPr>
          <p:cNvPr id="4" name="Text 2"/>
          <p:cNvSpPr/>
          <p:nvPr/>
        </p:nvSpPr>
        <p:spPr>
          <a:xfrm>
            <a:off x="502920" y="1508760"/>
            <a:ext cx="6035040" cy="1828800"/>
          </a:xfrm>
          <a:prstGeom prst="rect">
            <a:avLst/>
          </a:prstGeom>
          <a:noFill/>
          <a:ln/>
        </p:spPr>
        <p:txBody>
          <a:bodyPr wrap="square" rtlCol="0" anchor="ctr"/>
          <a:lstStyle/>
          <a:p>
            <a:pPr marL="0" indent="0">
              <a:lnSpc>
                <a:spcPts val="2000"/>
              </a:lnSpc>
              <a:buNone/>
            </a:pPr>
            <a:r>
              <a:rPr lang="en-US" sz="1350" dirty="0">
                <a:solidFill>
                  <a:srgbClr val="1B3A5C"/>
                </a:solidFill>
                <a:latin typeface="Calibri" pitchFamily="34" charset="0"/>
                <a:ea typeface="Calibri" pitchFamily="34" charset="-122"/>
                <a:cs typeface="Calibri" pitchFamily="34" charset="-120"/>
              </a:rPr>
              <a:t>Most students managing anxiety, sadness, or trauma at home are not acting out. Because they stay quiet, they stay invisible to the systems schools currently use to identify need. The 2023 Healthy Kids Colorado Survey tells us how many students that really is across Larimer County.</a:t>
            </a:r>
            <a:endParaRPr lang="en-US" sz="1350" dirty="0"/>
          </a:p>
        </p:txBody>
      </p:sp>
      <p:sp>
        <p:nvSpPr>
          <p:cNvPr id="5" name="Text 3"/>
          <p:cNvSpPr/>
          <p:nvPr/>
        </p:nvSpPr>
        <p:spPr>
          <a:xfrm>
            <a:off x="502920" y="3657600"/>
            <a:ext cx="6035040" cy="1828800"/>
          </a:xfrm>
          <a:prstGeom prst="rect">
            <a:avLst/>
          </a:prstGeom>
          <a:noFill/>
          <a:ln/>
        </p:spPr>
        <p:txBody>
          <a:bodyPr wrap="square" rtlCol="0" anchor="ctr"/>
          <a:lstStyle/>
          <a:p>
            <a:pPr marL="0" indent="0">
              <a:lnSpc>
                <a:spcPts val="2000"/>
              </a:lnSpc>
              <a:buNone/>
            </a:pPr>
            <a:r>
              <a:rPr lang="en-US" sz="1350" dirty="0">
                <a:solidFill>
                  <a:srgbClr val="1B3A5C"/>
                </a:solidFill>
                <a:latin typeface="Calibri" pitchFamily="34" charset="0"/>
                <a:ea typeface="Calibri" pitchFamily="34" charset="-122"/>
                <a:cs typeface="Calibri" pitchFamily="34" charset="-120"/>
              </a:rPr>
              <a:t>Weist and colleagues (2018) found that roughly one in five young people experience a mental health challenge, but only 36% of those who need intervention actually receive it. Students with internalizing struggles are systematically missed by referral-based systems built to catch disruptive behavior, not quiet suffering.</a:t>
            </a:r>
            <a:endParaRPr lang="en-US" sz="1350" dirty="0"/>
          </a:p>
        </p:txBody>
      </p:sp>
      <p:sp>
        <p:nvSpPr>
          <p:cNvPr id="6" name="Shape 4"/>
          <p:cNvSpPr/>
          <p:nvPr/>
        </p:nvSpPr>
        <p:spPr>
          <a:xfrm>
            <a:off x="6903720" y="1417320"/>
            <a:ext cx="4709160" cy="1417320"/>
          </a:xfrm>
          <a:prstGeom prst="roundRect">
            <a:avLst>
              <a:gd name="adj" fmla="val 5161"/>
            </a:avLst>
          </a:prstGeom>
          <a:solidFill>
            <a:srgbClr val="E8EEF4"/>
          </a:solidFill>
          <a:ln/>
        </p:spPr>
        <p:txBody>
          <a:bodyPr/>
          <a:lstStyle/>
          <a:p>
            <a:endParaRPr lang="en-US"/>
          </a:p>
        </p:txBody>
      </p:sp>
      <p:sp>
        <p:nvSpPr>
          <p:cNvPr id="7" name="Text 5"/>
          <p:cNvSpPr/>
          <p:nvPr/>
        </p:nvSpPr>
        <p:spPr>
          <a:xfrm>
            <a:off x="7178040" y="1581912"/>
            <a:ext cx="1828800" cy="1005840"/>
          </a:xfrm>
          <a:prstGeom prst="rect">
            <a:avLst/>
          </a:prstGeom>
          <a:noFill/>
          <a:ln/>
        </p:spPr>
        <p:txBody>
          <a:bodyPr wrap="square" rtlCol="0" anchor="ctr"/>
          <a:lstStyle/>
          <a:p>
            <a:pPr marL="0" indent="0">
              <a:buNone/>
            </a:pPr>
            <a:r>
              <a:rPr lang="en-US" sz="4000" b="1" dirty="0">
                <a:solidFill>
                  <a:srgbClr val="1B3A5C"/>
                </a:solidFill>
                <a:latin typeface="Cambria" pitchFamily="34" charset="0"/>
                <a:ea typeface="Cambria" pitchFamily="34" charset="-122"/>
                <a:cs typeface="Cambria" pitchFamily="34" charset="-120"/>
              </a:rPr>
              <a:t>25.2%</a:t>
            </a:r>
            <a:endParaRPr lang="en-US" sz="4000" dirty="0"/>
          </a:p>
        </p:txBody>
      </p:sp>
      <p:sp>
        <p:nvSpPr>
          <p:cNvPr id="8" name="Text 6"/>
          <p:cNvSpPr/>
          <p:nvPr/>
        </p:nvSpPr>
        <p:spPr>
          <a:xfrm>
            <a:off x="9052560" y="1581912"/>
            <a:ext cx="2377440" cy="1005840"/>
          </a:xfrm>
          <a:prstGeom prst="rect">
            <a:avLst/>
          </a:prstGeom>
          <a:noFill/>
          <a:ln/>
        </p:spPr>
        <p:txBody>
          <a:bodyPr wrap="square" rtlCol="0" anchor="ctr"/>
          <a:lstStyle/>
          <a:p>
            <a:pPr marL="0" indent="0">
              <a:lnSpc>
                <a:spcPts val="1500"/>
              </a:lnSpc>
              <a:buNone/>
            </a:pPr>
            <a:r>
              <a:rPr lang="en-US" sz="1200" dirty="0">
                <a:solidFill>
                  <a:srgbClr val="5A6B7A"/>
                </a:solidFill>
                <a:latin typeface="Calibri" pitchFamily="34" charset="0"/>
                <a:ea typeface="Calibri" pitchFamily="34" charset="-122"/>
                <a:cs typeface="Calibri" pitchFamily="34" charset="-120"/>
              </a:rPr>
              <a:t>felt persistently sad or</a:t>
            </a:r>
            <a:endParaRPr lang="en-US" sz="1200" dirty="0"/>
          </a:p>
          <a:p>
            <a:pPr marL="0" indent="0">
              <a:lnSpc>
                <a:spcPts val="1500"/>
              </a:lnSpc>
              <a:buNone/>
            </a:pPr>
            <a:r>
              <a:rPr lang="en-US" sz="1200" dirty="0">
                <a:solidFill>
                  <a:srgbClr val="5A6B7A"/>
                </a:solidFill>
                <a:latin typeface="Calibri" pitchFamily="34" charset="0"/>
                <a:ea typeface="Calibri" pitchFamily="34" charset="-122"/>
                <a:cs typeface="Calibri" pitchFamily="34" charset="-120"/>
              </a:rPr>
              <a:t>hopeless in 2023</a:t>
            </a:r>
            <a:endParaRPr lang="en-US" sz="1200" dirty="0"/>
          </a:p>
        </p:txBody>
      </p:sp>
      <p:sp>
        <p:nvSpPr>
          <p:cNvPr id="9" name="Shape 7"/>
          <p:cNvSpPr/>
          <p:nvPr/>
        </p:nvSpPr>
        <p:spPr>
          <a:xfrm>
            <a:off x="6903720" y="3108960"/>
            <a:ext cx="4709160" cy="1417320"/>
          </a:xfrm>
          <a:prstGeom prst="roundRect">
            <a:avLst>
              <a:gd name="adj" fmla="val 5161"/>
            </a:avLst>
          </a:prstGeom>
          <a:solidFill>
            <a:srgbClr val="E8EEF4"/>
          </a:solidFill>
          <a:ln/>
        </p:spPr>
        <p:txBody>
          <a:bodyPr/>
          <a:lstStyle/>
          <a:p>
            <a:endParaRPr lang="en-US"/>
          </a:p>
        </p:txBody>
      </p:sp>
      <p:sp>
        <p:nvSpPr>
          <p:cNvPr id="10" name="Text 8"/>
          <p:cNvSpPr/>
          <p:nvPr/>
        </p:nvSpPr>
        <p:spPr>
          <a:xfrm>
            <a:off x="7178040" y="3273552"/>
            <a:ext cx="1828800" cy="1005840"/>
          </a:xfrm>
          <a:prstGeom prst="rect">
            <a:avLst/>
          </a:prstGeom>
          <a:noFill/>
          <a:ln/>
        </p:spPr>
        <p:txBody>
          <a:bodyPr wrap="square" rtlCol="0" anchor="ctr"/>
          <a:lstStyle/>
          <a:p>
            <a:pPr marL="0" indent="0">
              <a:buNone/>
            </a:pPr>
            <a:r>
              <a:rPr lang="en-US" sz="4000" b="1" dirty="0">
                <a:solidFill>
                  <a:srgbClr val="1B3A5C"/>
                </a:solidFill>
                <a:latin typeface="Cambria" pitchFamily="34" charset="0"/>
                <a:ea typeface="Cambria" pitchFamily="34" charset="-122"/>
                <a:cs typeface="Cambria" pitchFamily="34" charset="-120"/>
              </a:rPr>
              <a:t>11.9%</a:t>
            </a:r>
            <a:endParaRPr lang="en-US" sz="4000" dirty="0"/>
          </a:p>
        </p:txBody>
      </p:sp>
      <p:sp>
        <p:nvSpPr>
          <p:cNvPr id="11" name="Text 9"/>
          <p:cNvSpPr/>
          <p:nvPr/>
        </p:nvSpPr>
        <p:spPr>
          <a:xfrm>
            <a:off x="9052560" y="3273552"/>
            <a:ext cx="2377440" cy="1005840"/>
          </a:xfrm>
          <a:prstGeom prst="rect">
            <a:avLst/>
          </a:prstGeom>
          <a:noFill/>
          <a:ln/>
        </p:spPr>
        <p:txBody>
          <a:bodyPr wrap="square" rtlCol="0" anchor="ctr"/>
          <a:lstStyle/>
          <a:p>
            <a:pPr marL="0" indent="0">
              <a:lnSpc>
                <a:spcPts val="1500"/>
              </a:lnSpc>
              <a:buNone/>
            </a:pPr>
            <a:r>
              <a:rPr lang="en-US" sz="1200" dirty="0">
                <a:solidFill>
                  <a:srgbClr val="5A6B7A"/>
                </a:solidFill>
                <a:latin typeface="Calibri" pitchFamily="34" charset="0"/>
                <a:ea typeface="Calibri" pitchFamily="34" charset="-122"/>
                <a:cs typeface="Calibri" pitchFamily="34" charset="-120"/>
              </a:rPr>
              <a:t>seriously considered</a:t>
            </a:r>
            <a:endParaRPr lang="en-US" sz="1200" dirty="0"/>
          </a:p>
          <a:p>
            <a:pPr marL="0" indent="0">
              <a:lnSpc>
                <a:spcPts val="1500"/>
              </a:lnSpc>
              <a:buNone/>
            </a:pPr>
            <a:r>
              <a:rPr lang="en-US" sz="1200" dirty="0">
                <a:solidFill>
                  <a:srgbClr val="5A6B7A"/>
                </a:solidFill>
                <a:latin typeface="Calibri" pitchFamily="34" charset="0"/>
                <a:ea typeface="Calibri" pitchFamily="34" charset="-122"/>
                <a:cs typeface="Calibri" pitchFamily="34" charset="-120"/>
              </a:rPr>
              <a:t>suicide in the past year</a:t>
            </a:r>
            <a:endParaRPr lang="en-US" sz="1200" dirty="0"/>
          </a:p>
        </p:txBody>
      </p:sp>
      <p:sp>
        <p:nvSpPr>
          <p:cNvPr id="12" name="Shape 10"/>
          <p:cNvSpPr/>
          <p:nvPr/>
        </p:nvSpPr>
        <p:spPr>
          <a:xfrm>
            <a:off x="6903720" y="4800600"/>
            <a:ext cx="4709160" cy="1417320"/>
          </a:xfrm>
          <a:prstGeom prst="roundRect">
            <a:avLst>
              <a:gd name="adj" fmla="val 5161"/>
            </a:avLst>
          </a:prstGeom>
          <a:solidFill>
            <a:srgbClr val="E8EEF4"/>
          </a:solidFill>
          <a:ln/>
        </p:spPr>
        <p:txBody>
          <a:bodyPr/>
          <a:lstStyle/>
          <a:p>
            <a:endParaRPr lang="en-US"/>
          </a:p>
        </p:txBody>
      </p:sp>
      <p:sp>
        <p:nvSpPr>
          <p:cNvPr id="13" name="Text 11"/>
          <p:cNvSpPr/>
          <p:nvPr/>
        </p:nvSpPr>
        <p:spPr>
          <a:xfrm>
            <a:off x="7178040" y="4965192"/>
            <a:ext cx="1828800" cy="1005840"/>
          </a:xfrm>
          <a:prstGeom prst="rect">
            <a:avLst/>
          </a:prstGeom>
          <a:noFill/>
          <a:ln/>
        </p:spPr>
        <p:txBody>
          <a:bodyPr wrap="square" rtlCol="0" anchor="ctr"/>
          <a:lstStyle/>
          <a:p>
            <a:pPr marL="0" indent="0">
              <a:buNone/>
            </a:pPr>
            <a:r>
              <a:rPr lang="en-US" sz="4000" b="1" dirty="0">
                <a:solidFill>
                  <a:srgbClr val="1B3A5C"/>
                </a:solidFill>
                <a:latin typeface="Cambria" pitchFamily="34" charset="0"/>
                <a:ea typeface="Cambria" pitchFamily="34" charset="-122"/>
                <a:cs typeface="Cambria" pitchFamily="34" charset="-120"/>
              </a:rPr>
              <a:t>36%</a:t>
            </a:r>
            <a:endParaRPr lang="en-US" sz="4000" dirty="0"/>
          </a:p>
        </p:txBody>
      </p:sp>
      <p:sp>
        <p:nvSpPr>
          <p:cNvPr id="14" name="Text 12"/>
          <p:cNvSpPr/>
          <p:nvPr/>
        </p:nvSpPr>
        <p:spPr>
          <a:xfrm>
            <a:off x="9052560" y="4965192"/>
            <a:ext cx="2377440" cy="1005840"/>
          </a:xfrm>
          <a:prstGeom prst="rect">
            <a:avLst/>
          </a:prstGeom>
          <a:noFill/>
          <a:ln/>
        </p:spPr>
        <p:txBody>
          <a:bodyPr wrap="square" rtlCol="0" anchor="ctr"/>
          <a:lstStyle/>
          <a:p>
            <a:pPr marL="0" indent="0">
              <a:lnSpc>
                <a:spcPts val="1500"/>
              </a:lnSpc>
              <a:buNone/>
            </a:pPr>
            <a:r>
              <a:rPr lang="en-US" sz="1200" dirty="0">
                <a:solidFill>
                  <a:srgbClr val="5A6B7A"/>
                </a:solidFill>
                <a:latin typeface="Calibri" pitchFamily="34" charset="0"/>
                <a:ea typeface="Calibri" pitchFamily="34" charset="-122"/>
                <a:cs typeface="Calibri" pitchFamily="34" charset="-120"/>
              </a:rPr>
              <a:t>of youth who need</a:t>
            </a:r>
            <a:endParaRPr lang="en-US" sz="1200" dirty="0"/>
          </a:p>
          <a:p>
            <a:pPr marL="0" indent="0">
              <a:lnSpc>
                <a:spcPts val="1500"/>
              </a:lnSpc>
              <a:buNone/>
            </a:pPr>
            <a:r>
              <a:rPr lang="en-US" sz="1200" dirty="0">
                <a:solidFill>
                  <a:srgbClr val="5A6B7A"/>
                </a:solidFill>
                <a:latin typeface="Calibri" pitchFamily="34" charset="0"/>
                <a:ea typeface="Calibri" pitchFamily="34" charset="-122"/>
                <a:cs typeface="Calibri" pitchFamily="34" charset="-120"/>
              </a:rPr>
              <a:t>intervention receive it</a:t>
            </a:r>
            <a:endParaRPr lang="en-US" sz="1200" dirty="0"/>
          </a:p>
        </p:txBody>
      </p:sp>
      <p:sp>
        <p:nvSpPr>
          <p:cNvPr id="15" name="Text 13"/>
          <p:cNvSpPr/>
          <p:nvPr/>
        </p:nvSpPr>
        <p:spPr>
          <a:xfrm>
            <a:off x="457200" y="6537960"/>
            <a:ext cx="8686800"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Source: 2023 Healthy Kids Colorado Survey, High School Region 2 Report (n = 5,034); Weist et al. (2018)</a:t>
            </a:r>
            <a:endParaRPr lang="en-US" sz="900" dirty="0"/>
          </a:p>
        </p:txBody>
      </p:sp>
      <p:sp>
        <p:nvSpPr>
          <p:cNvPr id="16" name="Text 1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marL="0" indent="0">
              <a:buNone/>
            </a:pPr>
            <a:r>
              <a:rPr lang="en-US" sz="1250" b="1" kern="0" spc="150" dirty="0">
                <a:solidFill>
                  <a:srgbClr val="2066A8"/>
                </a:solidFill>
                <a:latin typeface="Calibri" pitchFamily="34" charset="0"/>
                <a:ea typeface="Calibri" pitchFamily="34" charset="-122"/>
                <a:cs typeface="Calibri" pitchFamily="34" charset="-120"/>
              </a:rPr>
              <a:t>THE OPPORTUNITY</a:t>
            </a:r>
            <a:endParaRPr lang="en-US" sz="1250" dirty="0"/>
          </a:p>
        </p:txBody>
      </p:sp>
      <p:sp>
        <p:nvSpPr>
          <p:cNvPr id="3" name="Text 1"/>
          <p:cNvSpPr/>
          <p:nvPr/>
        </p:nvSpPr>
        <p:spPr>
          <a:xfrm>
            <a:off x="502920" y="685800"/>
            <a:ext cx="11155680" cy="777240"/>
          </a:xfrm>
          <a:prstGeom prst="rect">
            <a:avLst/>
          </a:prstGeom>
          <a:noFill/>
          <a:ln/>
        </p:spPr>
        <p:txBody>
          <a:bodyPr wrap="square" rtlCol="0" anchor="ctr"/>
          <a:lstStyle/>
          <a:p>
            <a:pPr marL="0" indent="0">
              <a:buNone/>
            </a:pPr>
            <a:r>
              <a:rPr lang="en-US" sz="2900" b="1" dirty="0">
                <a:solidFill>
                  <a:srgbClr val="1B3A5C"/>
                </a:solidFill>
                <a:latin typeface="Cambria" pitchFamily="34" charset="0"/>
                <a:ea typeface="Cambria" pitchFamily="34" charset="-122"/>
                <a:cs typeface="Cambria" pitchFamily="34" charset="-120"/>
              </a:rPr>
              <a:t>Larimer County has already invested. The data layer is what’s missing</a:t>
            </a:r>
            <a:endParaRPr lang="en-US" sz="2900" dirty="0"/>
          </a:p>
        </p:txBody>
      </p:sp>
      <p:sp>
        <p:nvSpPr>
          <p:cNvPr id="4" name="Text 2"/>
          <p:cNvSpPr/>
          <p:nvPr/>
        </p:nvSpPr>
        <p:spPr>
          <a:xfrm>
            <a:off x="502920" y="1508760"/>
            <a:ext cx="11155680" cy="914400"/>
          </a:xfrm>
          <a:prstGeom prst="rect">
            <a:avLst/>
          </a:prstGeom>
          <a:noFill/>
          <a:ln/>
        </p:spPr>
        <p:txBody>
          <a:bodyPr wrap="square" rtlCol="0" anchor="ctr"/>
          <a:lstStyle/>
          <a:p>
            <a:pPr marL="0" indent="0">
              <a:lnSpc>
                <a:spcPts val="2000"/>
              </a:lnSpc>
              <a:buNone/>
            </a:pPr>
            <a:r>
              <a:rPr lang="en-US" sz="1350" dirty="0">
                <a:solidFill>
                  <a:srgbClr val="1B3A5C"/>
                </a:solidFill>
                <a:latin typeface="Calibri" pitchFamily="34" charset="0"/>
                <a:ea typeface="Calibri" pitchFamily="34" charset="-122"/>
                <a:cs typeface="Calibri" pitchFamily="34" charset="-120"/>
              </a:rPr>
              <a:t>In 2018, 61% of voters passed a 20-year behavioral health sales tax that now generates $24.5 million annually. That investment has built real infrastructure. What it has not yet built is a shared, school-level way of measuring how students are doing, so that investment can be aimed where it matters most.</a:t>
            </a:r>
            <a:endParaRPr lang="en-US" sz="1350" dirty="0"/>
          </a:p>
        </p:txBody>
      </p:sp>
      <p:sp>
        <p:nvSpPr>
          <p:cNvPr id="5" name="Shape 3"/>
          <p:cNvSpPr/>
          <p:nvPr/>
        </p:nvSpPr>
        <p:spPr>
          <a:xfrm>
            <a:off x="502920" y="2697480"/>
            <a:ext cx="2697480" cy="3063240"/>
          </a:xfrm>
          <a:prstGeom prst="roundRect">
            <a:avLst>
              <a:gd name="adj" fmla="val 2712"/>
            </a:avLst>
          </a:prstGeom>
          <a:solidFill>
            <a:srgbClr val="FFFFFF"/>
          </a:solidFill>
          <a:ln w="12700">
            <a:solidFill>
              <a:srgbClr val="D7E0E8"/>
            </a:solidFill>
            <a:prstDash val="solid"/>
          </a:ln>
        </p:spPr>
        <p:txBody>
          <a:bodyPr/>
          <a:lstStyle/>
          <a:p>
            <a:endParaRPr lang="en-US"/>
          </a:p>
        </p:txBody>
      </p:sp>
      <p:sp>
        <p:nvSpPr>
          <p:cNvPr id="6" name="Shape 4"/>
          <p:cNvSpPr/>
          <p:nvPr/>
        </p:nvSpPr>
        <p:spPr>
          <a:xfrm>
            <a:off x="1485900" y="2971800"/>
            <a:ext cx="731520" cy="731520"/>
          </a:xfrm>
          <a:prstGeom prst="ellipse">
            <a:avLst/>
          </a:prstGeom>
          <a:solidFill>
            <a:srgbClr val="1B3A5C"/>
          </a:solidFill>
          <a:ln/>
        </p:spPr>
        <p:txBody>
          <a:bodyPr/>
          <a:lstStyle/>
          <a:p>
            <a:endParaRPr lang="en-US"/>
          </a:p>
        </p:txBody>
      </p:sp>
      <p:pic>
        <p:nvPicPr>
          <p:cNvPr id="7" name="Image 0" descr="/home/claude/deck/icon_landmark_white.png"/>
          <p:cNvPicPr>
            <a:picLocks noChangeAspect="1"/>
          </p:cNvPicPr>
          <p:nvPr/>
        </p:nvPicPr>
        <p:blipFill>
          <a:blip r:embed="rId3"/>
          <a:stretch>
            <a:fillRect/>
          </a:stretch>
        </p:blipFill>
        <p:spPr>
          <a:xfrm>
            <a:off x="1668780" y="3154680"/>
            <a:ext cx="365760" cy="365760"/>
          </a:xfrm>
          <a:prstGeom prst="rect">
            <a:avLst/>
          </a:prstGeom>
        </p:spPr>
      </p:pic>
      <p:sp>
        <p:nvSpPr>
          <p:cNvPr id="8" name="Text 5"/>
          <p:cNvSpPr/>
          <p:nvPr/>
        </p:nvSpPr>
        <p:spPr>
          <a:xfrm>
            <a:off x="640080" y="3840480"/>
            <a:ext cx="2423160" cy="594360"/>
          </a:xfrm>
          <a:prstGeom prst="rect">
            <a:avLst/>
          </a:prstGeom>
          <a:noFill/>
          <a:ln/>
        </p:spPr>
        <p:txBody>
          <a:bodyPr wrap="square" rtlCol="0" anchor="ctr"/>
          <a:lstStyle/>
          <a:p>
            <a:pPr marL="0" indent="0" algn="ctr">
              <a:buNone/>
            </a:pPr>
            <a:r>
              <a:rPr lang="en-US" sz="2600" b="1" dirty="0">
                <a:solidFill>
                  <a:srgbClr val="1B3A5C"/>
                </a:solidFill>
                <a:latin typeface="Cambria" pitchFamily="34" charset="0"/>
                <a:ea typeface="Cambria" pitchFamily="34" charset="-122"/>
                <a:cs typeface="Cambria" pitchFamily="34" charset="-120"/>
              </a:rPr>
              <a:t>$24.5M</a:t>
            </a:r>
            <a:endParaRPr lang="en-US" sz="2600" dirty="0"/>
          </a:p>
        </p:txBody>
      </p:sp>
      <p:sp>
        <p:nvSpPr>
          <p:cNvPr id="9" name="Text 6"/>
          <p:cNvSpPr/>
          <p:nvPr/>
        </p:nvSpPr>
        <p:spPr>
          <a:xfrm>
            <a:off x="640080" y="4434840"/>
            <a:ext cx="2423160" cy="1097280"/>
          </a:xfrm>
          <a:prstGeom prst="rect">
            <a:avLst/>
          </a:prstGeom>
          <a:noFill/>
          <a:ln/>
        </p:spPr>
        <p:txBody>
          <a:bodyPr wrap="square" rtlCol="0" anchor="ctr"/>
          <a:lstStyle/>
          <a:p>
            <a:pPr marL="0" indent="0" algn="ctr">
              <a:lnSpc>
                <a:spcPts val="1400"/>
              </a:lnSpc>
              <a:buNone/>
            </a:pPr>
            <a:r>
              <a:rPr lang="en-US" sz="1150" dirty="0">
                <a:solidFill>
                  <a:srgbClr val="5A6B7A"/>
                </a:solidFill>
                <a:latin typeface="Calibri" pitchFamily="34" charset="0"/>
                <a:ea typeface="Calibri" pitchFamily="34" charset="-122"/>
                <a:cs typeface="Calibri" pitchFamily="34" charset="-120"/>
              </a:rPr>
              <a:t>Generated annually by the</a:t>
            </a:r>
            <a:endParaRPr lang="en-US" sz="1150" dirty="0"/>
          </a:p>
          <a:p>
            <a:pPr marL="0" indent="0" algn="ctr">
              <a:lnSpc>
                <a:spcPts val="1400"/>
              </a:lnSpc>
              <a:buNone/>
            </a:pPr>
            <a:r>
              <a:rPr lang="en-US" sz="1150" dirty="0">
                <a:solidFill>
                  <a:srgbClr val="5A6B7A"/>
                </a:solidFill>
                <a:latin typeface="Calibri" pitchFamily="34" charset="0"/>
                <a:ea typeface="Calibri" pitchFamily="34" charset="-122"/>
                <a:cs typeface="Calibri" pitchFamily="34" charset="-120"/>
              </a:rPr>
              <a:t>2018 voter-approved tax</a:t>
            </a:r>
            <a:endParaRPr lang="en-US" sz="1150" dirty="0"/>
          </a:p>
        </p:txBody>
      </p:sp>
      <p:sp>
        <p:nvSpPr>
          <p:cNvPr id="10" name="Shape 7"/>
          <p:cNvSpPr/>
          <p:nvPr/>
        </p:nvSpPr>
        <p:spPr>
          <a:xfrm>
            <a:off x="3429000" y="2697480"/>
            <a:ext cx="2697480" cy="3063240"/>
          </a:xfrm>
          <a:prstGeom prst="roundRect">
            <a:avLst>
              <a:gd name="adj" fmla="val 2712"/>
            </a:avLst>
          </a:prstGeom>
          <a:solidFill>
            <a:srgbClr val="FFFFFF"/>
          </a:solidFill>
          <a:ln w="12700">
            <a:solidFill>
              <a:srgbClr val="D7E0E8"/>
            </a:solidFill>
            <a:prstDash val="solid"/>
          </a:ln>
        </p:spPr>
        <p:txBody>
          <a:bodyPr/>
          <a:lstStyle/>
          <a:p>
            <a:endParaRPr lang="en-US"/>
          </a:p>
        </p:txBody>
      </p:sp>
      <p:sp>
        <p:nvSpPr>
          <p:cNvPr id="11" name="Shape 8"/>
          <p:cNvSpPr/>
          <p:nvPr/>
        </p:nvSpPr>
        <p:spPr>
          <a:xfrm>
            <a:off x="4411980" y="2971800"/>
            <a:ext cx="731520" cy="731520"/>
          </a:xfrm>
          <a:prstGeom prst="ellipse">
            <a:avLst/>
          </a:prstGeom>
          <a:solidFill>
            <a:srgbClr val="1B3A5C"/>
          </a:solidFill>
          <a:ln/>
        </p:spPr>
        <p:txBody>
          <a:bodyPr/>
          <a:lstStyle/>
          <a:p>
            <a:endParaRPr lang="en-US"/>
          </a:p>
        </p:txBody>
      </p:sp>
      <p:pic>
        <p:nvPicPr>
          <p:cNvPr id="12" name="Image 1" descr="/home/claude/deck/icon_shield_white.png"/>
          <p:cNvPicPr>
            <a:picLocks noChangeAspect="1"/>
          </p:cNvPicPr>
          <p:nvPr/>
        </p:nvPicPr>
        <p:blipFill>
          <a:blip r:embed="rId4"/>
          <a:stretch>
            <a:fillRect/>
          </a:stretch>
        </p:blipFill>
        <p:spPr>
          <a:xfrm>
            <a:off x="4594860" y="3154680"/>
            <a:ext cx="365760" cy="365760"/>
          </a:xfrm>
          <a:prstGeom prst="rect">
            <a:avLst/>
          </a:prstGeom>
        </p:spPr>
      </p:pic>
      <p:sp>
        <p:nvSpPr>
          <p:cNvPr id="13" name="Text 9"/>
          <p:cNvSpPr/>
          <p:nvPr/>
        </p:nvSpPr>
        <p:spPr>
          <a:xfrm>
            <a:off x="3566160" y="3840480"/>
            <a:ext cx="2423160" cy="594360"/>
          </a:xfrm>
          <a:prstGeom prst="rect">
            <a:avLst/>
          </a:prstGeom>
          <a:noFill/>
          <a:ln/>
        </p:spPr>
        <p:txBody>
          <a:bodyPr wrap="square" rtlCol="0" anchor="ctr"/>
          <a:lstStyle/>
          <a:p>
            <a:pPr marL="0" indent="0" algn="ctr">
              <a:buNone/>
            </a:pPr>
            <a:r>
              <a:rPr lang="en-US" sz="2600" b="1" dirty="0">
                <a:solidFill>
                  <a:srgbClr val="1B3A5C"/>
                </a:solidFill>
                <a:latin typeface="Cambria" pitchFamily="34" charset="0"/>
                <a:ea typeface="Cambria" pitchFamily="34" charset="-122"/>
                <a:cs typeface="Cambria" pitchFamily="34" charset="-120"/>
              </a:rPr>
              <a:t>77</a:t>
            </a:r>
            <a:endParaRPr lang="en-US" sz="2600" dirty="0"/>
          </a:p>
        </p:txBody>
      </p:sp>
      <p:sp>
        <p:nvSpPr>
          <p:cNvPr id="14" name="Text 10"/>
          <p:cNvSpPr/>
          <p:nvPr/>
        </p:nvSpPr>
        <p:spPr>
          <a:xfrm>
            <a:off x="3566160" y="4434840"/>
            <a:ext cx="2423160" cy="1097280"/>
          </a:xfrm>
          <a:prstGeom prst="rect">
            <a:avLst/>
          </a:prstGeom>
          <a:noFill/>
          <a:ln/>
        </p:spPr>
        <p:txBody>
          <a:bodyPr wrap="square" rtlCol="0" anchor="ctr"/>
          <a:lstStyle/>
          <a:p>
            <a:pPr marL="0" indent="0" algn="ctr">
              <a:lnSpc>
                <a:spcPts val="1400"/>
              </a:lnSpc>
              <a:buNone/>
            </a:pPr>
            <a:r>
              <a:rPr lang="en-US" sz="1150" dirty="0">
                <a:solidFill>
                  <a:srgbClr val="5A6B7A"/>
                </a:solidFill>
                <a:latin typeface="Calibri" pitchFamily="34" charset="0"/>
                <a:ea typeface="Calibri" pitchFamily="34" charset="-122"/>
                <a:cs typeface="Calibri" pitchFamily="34" charset="-120"/>
              </a:rPr>
              <a:t>Community organizations</a:t>
            </a:r>
            <a:endParaRPr lang="en-US" sz="1150" dirty="0"/>
          </a:p>
          <a:p>
            <a:pPr marL="0" indent="0" algn="ctr">
              <a:lnSpc>
                <a:spcPts val="1400"/>
              </a:lnSpc>
              <a:buNone/>
            </a:pPr>
            <a:r>
              <a:rPr lang="en-US" sz="1150" dirty="0">
                <a:solidFill>
                  <a:srgbClr val="5A6B7A"/>
                </a:solidFill>
                <a:latin typeface="Calibri" pitchFamily="34" charset="0"/>
                <a:ea typeface="Calibri" pitchFamily="34" charset="-122"/>
                <a:cs typeface="Calibri" pitchFamily="34" charset="-120"/>
              </a:rPr>
              <a:t>receiving grant support</a:t>
            </a:r>
            <a:endParaRPr lang="en-US" sz="1150" dirty="0"/>
          </a:p>
        </p:txBody>
      </p:sp>
      <p:sp>
        <p:nvSpPr>
          <p:cNvPr id="15" name="Shape 11"/>
          <p:cNvSpPr/>
          <p:nvPr/>
        </p:nvSpPr>
        <p:spPr>
          <a:xfrm>
            <a:off x="6355080" y="2697480"/>
            <a:ext cx="2697480" cy="3063240"/>
          </a:xfrm>
          <a:prstGeom prst="roundRect">
            <a:avLst>
              <a:gd name="adj" fmla="val 2712"/>
            </a:avLst>
          </a:prstGeom>
          <a:solidFill>
            <a:srgbClr val="FFFFFF"/>
          </a:solidFill>
          <a:ln w="12700">
            <a:solidFill>
              <a:srgbClr val="D7E0E8"/>
            </a:solidFill>
            <a:prstDash val="solid"/>
          </a:ln>
        </p:spPr>
        <p:txBody>
          <a:bodyPr/>
          <a:lstStyle/>
          <a:p>
            <a:endParaRPr lang="en-US"/>
          </a:p>
        </p:txBody>
      </p:sp>
      <p:sp>
        <p:nvSpPr>
          <p:cNvPr id="16" name="Shape 12"/>
          <p:cNvSpPr/>
          <p:nvPr/>
        </p:nvSpPr>
        <p:spPr>
          <a:xfrm>
            <a:off x="7338060" y="2971800"/>
            <a:ext cx="731520" cy="731520"/>
          </a:xfrm>
          <a:prstGeom prst="ellipse">
            <a:avLst/>
          </a:prstGeom>
          <a:solidFill>
            <a:srgbClr val="1B3A5C"/>
          </a:solidFill>
          <a:ln/>
        </p:spPr>
        <p:txBody>
          <a:bodyPr/>
          <a:lstStyle/>
          <a:p>
            <a:endParaRPr lang="en-US"/>
          </a:p>
        </p:txBody>
      </p:sp>
      <p:pic>
        <p:nvPicPr>
          <p:cNvPr id="17" name="Image 2" descr="/home/claude/deck/icon_users_white.png"/>
          <p:cNvPicPr>
            <a:picLocks noChangeAspect="1"/>
          </p:cNvPicPr>
          <p:nvPr/>
        </p:nvPicPr>
        <p:blipFill>
          <a:blip r:embed="rId5"/>
          <a:stretch>
            <a:fillRect/>
          </a:stretch>
        </p:blipFill>
        <p:spPr>
          <a:xfrm>
            <a:off x="7520940" y="3154680"/>
            <a:ext cx="365760" cy="365760"/>
          </a:xfrm>
          <a:prstGeom prst="rect">
            <a:avLst/>
          </a:prstGeom>
        </p:spPr>
      </p:pic>
      <p:sp>
        <p:nvSpPr>
          <p:cNvPr id="18" name="Text 13"/>
          <p:cNvSpPr/>
          <p:nvPr/>
        </p:nvSpPr>
        <p:spPr>
          <a:xfrm>
            <a:off x="6492240" y="3840480"/>
            <a:ext cx="2423160" cy="594360"/>
          </a:xfrm>
          <a:prstGeom prst="rect">
            <a:avLst/>
          </a:prstGeom>
          <a:noFill/>
          <a:ln/>
        </p:spPr>
        <p:txBody>
          <a:bodyPr wrap="square" rtlCol="0" anchor="ctr"/>
          <a:lstStyle/>
          <a:p>
            <a:pPr marL="0" indent="0" algn="ctr">
              <a:buNone/>
            </a:pPr>
            <a:r>
              <a:rPr lang="en-US" sz="2600" b="1" dirty="0">
                <a:solidFill>
                  <a:srgbClr val="1B3A5C"/>
                </a:solidFill>
                <a:latin typeface="Cambria" pitchFamily="34" charset="0"/>
                <a:ea typeface="Cambria" pitchFamily="34" charset="-122"/>
                <a:cs typeface="Cambria" pitchFamily="34" charset="-120"/>
              </a:rPr>
              <a:t>3</a:t>
            </a:r>
            <a:endParaRPr lang="en-US" sz="2600" dirty="0"/>
          </a:p>
        </p:txBody>
      </p:sp>
      <p:sp>
        <p:nvSpPr>
          <p:cNvPr id="19" name="Text 14"/>
          <p:cNvSpPr/>
          <p:nvPr/>
        </p:nvSpPr>
        <p:spPr>
          <a:xfrm>
            <a:off x="6492240" y="4434840"/>
            <a:ext cx="2423160" cy="1097280"/>
          </a:xfrm>
          <a:prstGeom prst="rect">
            <a:avLst/>
          </a:prstGeom>
          <a:noFill/>
          <a:ln/>
        </p:spPr>
        <p:txBody>
          <a:bodyPr wrap="square" rtlCol="0" anchor="ctr"/>
          <a:lstStyle/>
          <a:p>
            <a:pPr marL="0" indent="0" algn="ctr">
              <a:lnSpc>
                <a:spcPts val="1400"/>
              </a:lnSpc>
              <a:buNone/>
            </a:pPr>
            <a:r>
              <a:rPr lang="en-US" sz="1150" dirty="0">
                <a:solidFill>
                  <a:srgbClr val="5A6B7A"/>
                </a:solidFill>
                <a:latin typeface="Calibri" pitchFamily="34" charset="0"/>
                <a:ea typeface="Calibri" pitchFamily="34" charset="-122"/>
                <a:cs typeface="Calibri" pitchFamily="34" charset="-120"/>
              </a:rPr>
              <a:t>School districts with no</a:t>
            </a:r>
            <a:endParaRPr lang="en-US" sz="1150" dirty="0"/>
          </a:p>
          <a:p>
            <a:pPr marL="0" indent="0" algn="ctr">
              <a:lnSpc>
                <a:spcPts val="1400"/>
              </a:lnSpc>
              <a:buNone/>
            </a:pPr>
            <a:r>
              <a:rPr lang="en-US" sz="1150" dirty="0">
                <a:solidFill>
                  <a:srgbClr val="5A6B7A"/>
                </a:solidFill>
                <a:latin typeface="Calibri" pitchFamily="34" charset="0"/>
                <a:ea typeface="Calibri" pitchFamily="34" charset="-122"/>
                <a:cs typeface="Calibri" pitchFamily="34" charset="-120"/>
              </a:rPr>
              <a:t>shared measurement system</a:t>
            </a:r>
            <a:endParaRPr lang="en-US" sz="1150" dirty="0"/>
          </a:p>
        </p:txBody>
      </p:sp>
      <p:sp>
        <p:nvSpPr>
          <p:cNvPr id="20" name="Shape 15"/>
          <p:cNvSpPr/>
          <p:nvPr/>
        </p:nvSpPr>
        <p:spPr>
          <a:xfrm>
            <a:off x="9281160" y="2697480"/>
            <a:ext cx="2697480" cy="3063240"/>
          </a:xfrm>
          <a:prstGeom prst="roundRect">
            <a:avLst>
              <a:gd name="adj" fmla="val 2712"/>
            </a:avLst>
          </a:prstGeom>
          <a:solidFill>
            <a:srgbClr val="FFFFFF"/>
          </a:solidFill>
          <a:ln w="12700">
            <a:solidFill>
              <a:srgbClr val="D7E0E8"/>
            </a:solidFill>
            <a:prstDash val="solid"/>
          </a:ln>
        </p:spPr>
        <p:txBody>
          <a:bodyPr/>
          <a:lstStyle/>
          <a:p>
            <a:endParaRPr lang="en-US"/>
          </a:p>
        </p:txBody>
      </p:sp>
      <p:sp>
        <p:nvSpPr>
          <p:cNvPr id="21" name="Shape 16"/>
          <p:cNvSpPr/>
          <p:nvPr/>
        </p:nvSpPr>
        <p:spPr>
          <a:xfrm>
            <a:off x="10264140" y="2971800"/>
            <a:ext cx="731520" cy="731520"/>
          </a:xfrm>
          <a:prstGeom prst="ellipse">
            <a:avLst/>
          </a:prstGeom>
          <a:solidFill>
            <a:srgbClr val="1B3A5C"/>
          </a:solidFill>
          <a:ln/>
        </p:spPr>
        <p:txBody>
          <a:bodyPr/>
          <a:lstStyle/>
          <a:p>
            <a:endParaRPr lang="en-US"/>
          </a:p>
        </p:txBody>
      </p:sp>
      <p:pic>
        <p:nvPicPr>
          <p:cNvPr id="22" name="Image 3" descr="/home/claude/deck/icon_chartbar_white.png"/>
          <p:cNvPicPr>
            <a:picLocks noChangeAspect="1"/>
          </p:cNvPicPr>
          <p:nvPr/>
        </p:nvPicPr>
        <p:blipFill>
          <a:blip r:embed="rId6"/>
          <a:stretch>
            <a:fillRect/>
          </a:stretch>
        </p:blipFill>
        <p:spPr>
          <a:xfrm>
            <a:off x="10447020" y="3154680"/>
            <a:ext cx="365760" cy="365760"/>
          </a:xfrm>
          <a:prstGeom prst="rect">
            <a:avLst/>
          </a:prstGeom>
        </p:spPr>
      </p:pic>
      <p:sp>
        <p:nvSpPr>
          <p:cNvPr id="23" name="Text 17"/>
          <p:cNvSpPr/>
          <p:nvPr/>
        </p:nvSpPr>
        <p:spPr>
          <a:xfrm>
            <a:off x="9418320" y="3840480"/>
            <a:ext cx="2423160" cy="594360"/>
          </a:xfrm>
          <a:prstGeom prst="rect">
            <a:avLst/>
          </a:prstGeom>
          <a:noFill/>
          <a:ln/>
        </p:spPr>
        <p:txBody>
          <a:bodyPr wrap="square" rtlCol="0" anchor="ctr"/>
          <a:lstStyle/>
          <a:p>
            <a:pPr marL="0" indent="0" algn="ctr">
              <a:buNone/>
            </a:pPr>
            <a:r>
              <a:rPr lang="en-US" sz="2600" b="1" dirty="0">
                <a:solidFill>
                  <a:srgbClr val="1B3A5C"/>
                </a:solidFill>
                <a:latin typeface="Cambria" pitchFamily="34" charset="0"/>
                <a:ea typeface="Cambria" pitchFamily="34" charset="-122"/>
                <a:cs typeface="Cambria" pitchFamily="34" charset="-120"/>
              </a:rPr>
              <a:t>2018–2030</a:t>
            </a:r>
            <a:endParaRPr lang="en-US" sz="2600" dirty="0"/>
          </a:p>
        </p:txBody>
      </p:sp>
      <p:sp>
        <p:nvSpPr>
          <p:cNvPr id="24" name="Text 18"/>
          <p:cNvSpPr/>
          <p:nvPr/>
        </p:nvSpPr>
        <p:spPr>
          <a:xfrm>
            <a:off x="9418320" y="4434840"/>
            <a:ext cx="2423160" cy="1097280"/>
          </a:xfrm>
          <a:prstGeom prst="rect">
            <a:avLst/>
          </a:prstGeom>
          <a:noFill/>
          <a:ln/>
        </p:spPr>
        <p:txBody>
          <a:bodyPr wrap="square" rtlCol="0" anchor="ctr"/>
          <a:lstStyle/>
          <a:p>
            <a:pPr marL="0" indent="0" algn="ctr">
              <a:lnSpc>
                <a:spcPts val="1400"/>
              </a:lnSpc>
              <a:buNone/>
            </a:pPr>
            <a:r>
              <a:rPr lang="en-US" sz="1150" dirty="0">
                <a:solidFill>
                  <a:srgbClr val="5A6B7A"/>
                </a:solidFill>
                <a:latin typeface="Calibri" pitchFamily="34" charset="0"/>
                <a:ea typeface="Calibri" pitchFamily="34" charset="-122"/>
                <a:cs typeface="Calibri" pitchFamily="34" charset="-120"/>
              </a:rPr>
              <a:t>Strategic plan names shared</a:t>
            </a:r>
            <a:endParaRPr lang="en-US" sz="1150" dirty="0"/>
          </a:p>
          <a:p>
            <a:pPr marL="0" indent="0" algn="ctr">
              <a:lnSpc>
                <a:spcPts val="1400"/>
              </a:lnSpc>
              <a:buNone/>
            </a:pPr>
            <a:r>
              <a:rPr lang="en-US" sz="1150" dirty="0">
                <a:solidFill>
                  <a:srgbClr val="5A6B7A"/>
                </a:solidFill>
                <a:latin typeface="Calibri" pitchFamily="34" charset="0"/>
                <a:ea typeface="Calibri" pitchFamily="34" charset="-122"/>
                <a:cs typeface="Calibri" pitchFamily="34" charset="-120"/>
              </a:rPr>
              <a:t>metrics a county priority</a:t>
            </a:r>
            <a:endParaRPr lang="en-US" sz="1150" dirty="0"/>
          </a:p>
        </p:txBody>
      </p:sp>
      <p:sp>
        <p:nvSpPr>
          <p:cNvPr id="25" name="Text 19"/>
          <p:cNvSpPr/>
          <p:nvPr/>
        </p:nvSpPr>
        <p:spPr>
          <a:xfrm>
            <a:off x="457200" y="6537960"/>
            <a:ext cx="8686800"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Source: Larimer County Behavioral Health Services, 2025 Annual Report; BHS 2026–2030 Strategic Plan</a:t>
            </a:r>
            <a:endParaRPr lang="en-US" sz="900" dirty="0"/>
          </a:p>
        </p:txBody>
      </p:sp>
      <p:sp>
        <p:nvSpPr>
          <p:cNvPr id="26" name="Text 2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marL="0" indent="0">
              <a:buNone/>
            </a:pPr>
            <a:r>
              <a:rPr lang="en-US" sz="1250" b="1" kern="0" spc="150" dirty="0">
                <a:solidFill>
                  <a:srgbClr val="2066A8"/>
                </a:solidFill>
                <a:latin typeface="Calibri" pitchFamily="34" charset="0"/>
                <a:ea typeface="Calibri" pitchFamily="34" charset="-122"/>
                <a:cs typeface="Calibri" pitchFamily="34" charset="-120"/>
              </a:rPr>
              <a:t>PROJECT SCOPE</a:t>
            </a:r>
            <a:endParaRPr lang="en-US" sz="1250" dirty="0"/>
          </a:p>
        </p:txBody>
      </p:sp>
      <p:sp>
        <p:nvSpPr>
          <p:cNvPr id="3" name="Text 1"/>
          <p:cNvSpPr/>
          <p:nvPr/>
        </p:nvSpPr>
        <p:spPr>
          <a:xfrm>
            <a:off x="502920" y="685800"/>
            <a:ext cx="11155680" cy="777240"/>
          </a:xfrm>
          <a:prstGeom prst="rect">
            <a:avLst/>
          </a:prstGeom>
          <a:noFill/>
          <a:ln/>
        </p:spPr>
        <p:txBody>
          <a:bodyPr wrap="square" rtlCol="0" anchor="ctr"/>
          <a:lstStyle/>
          <a:p>
            <a:pPr marL="0" indent="0">
              <a:buNone/>
            </a:pPr>
            <a:r>
              <a:rPr lang="en-US" sz="2900" b="1" dirty="0">
                <a:solidFill>
                  <a:srgbClr val="1B3A5C"/>
                </a:solidFill>
                <a:latin typeface="Cambria" pitchFamily="34" charset="0"/>
                <a:ea typeface="Cambria" pitchFamily="34" charset="-122"/>
                <a:cs typeface="Cambria" pitchFamily="34" charset="-120"/>
              </a:rPr>
              <a:t>Four completed deliverables, one consistent standard</a:t>
            </a:r>
            <a:endParaRPr lang="en-US" sz="2900" dirty="0"/>
          </a:p>
        </p:txBody>
      </p:sp>
      <p:sp>
        <p:nvSpPr>
          <p:cNvPr id="4" name="Text 2"/>
          <p:cNvSpPr/>
          <p:nvPr/>
        </p:nvSpPr>
        <p:spPr>
          <a:xfrm>
            <a:off x="502920" y="1600200"/>
            <a:ext cx="822960" cy="960120"/>
          </a:xfrm>
          <a:prstGeom prst="rect">
            <a:avLst/>
          </a:prstGeom>
          <a:noFill/>
          <a:ln/>
        </p:spPr>
        <p:txBody>
          <a:bodyPr wrap="square" rtlCol="0" anchor="ctr"/>
          <a:lstStyle/>
          <a:p>
            <a:pPr marL="0" indent="0">
              <a:buNone/>
            </a:pPr>
            <a:r>
              <a:rPr lang="en-US" sz="3000" b="1" dirty="0">
                <a:solidFill>
                  <a:srgbClr val="B8860B"/>
                </a:solidFill>
                <a:latin typeface="Cambria" pitchFamily="34" charset="0"/>
                <a:ea typeface="Cambria" pitchFamily="34" charset="-122"/>
                <a:cs typeface="Cambria" pitchFamily="34" charset="-120"/>
              </a:rPr>
              <a:t>01</a:t>
            </a:r>
            <a:endParaRPr lang="en-US" sz="3000" dirty="0"/>
          </a:p>
        </p:txBody>
      </p:sp>
      <p:sp>
        <p:nvSpPr>
          <p:cNvPr id="5" name="Text 3"/>
          <p:cNvSpPr/>
          <p:nvPr/>
        </p:nvSpPr>
        <p:spPr>
          <a:xfrm>
            <a:off x="1417320" y="1618488"/>
            <a:ext cx="6126480" cy="365760"/>
          </a:xfrm>
          <a:prstGeom prst="rect">
            <a:avLst/>
          </a:prstGeom>
          <a:noFill/>
          <a:ln/>
        </p:spPr>
        <p:txBody>
          <a:bodyPr wrap="square" rtlCol="0" anchor="ctr"/>
          <a:lstStyle/>
          <a:p>
            <a:pPr marL="0" indent="0">
              <a:buNone/>
            </a:pPr>
            <a:r>
              <a:rPr lang="en-US" sz="1500" b="1" dirty="0">
                <a:solidFill>
                  <a:srgbClr val="1B3A5C"/>
                </a:solidFill>
                <a:latin typeface="Calibri" pitchFamily="34" charset="0"/>
                <a:ea typeface="Calibri" pitchFamily="34" charset="-122"/>
                <a:cs typeface="Calibri" pitchFamily="34" charset="-120"/>
              </a:rPr>
              <a:t>Bibliography &amp; Summary of Findings</a:t>
            </a:r>
            <a:endParaRPr lang="en-US" sz="1500" dirty="0"/>
          </a:p>
        </p:txBody>
      </p:sp>
      <p:sp>
        <p:nvSpPr>
          <p:cNvPr id="6" name="Text 4"/>
          <p:cNvSpPr/>
          <p:nvPr/>
        </p:nvSpPr>
        <p:spPr>
          <a:xfrm>
            <a:off x="1417320" y="1984248"/>
            <a:ext cx="6126480" cy="594360"/>
          </a:xfrm>
          <a:prstGeom prst="rect">
            <a:avLst/>
          </a:prstGeom>
          <a:noFill/>
          <a:ln/>
        </p:spPr>
        <p:txBody>
          <a:bodyPr wrap="square" rtlCol="0" anchor="ctr"/>
          <a:lstStyle/>
          <a:p>
            <a:pPr marL="0" indent="0">
              <a:lnSpc>
                <a:spcPts val="1400"/>
              </a:lnSpc>
              <a:buNone/>
            </a:pPr>
            <a:r>
              <a:rPr lang="en-US" sz="1150" dirty="0">
                <a:solidFill>
                  <a:srgbClr val="5A6B7A"/>
                </a:solidFill>
                <a:latin typeface="Calibri" pitchFamily="34" charset="0"/>
                <a:ea typeface="Calibri" pitchFamily="34" charset="-122"/>
                <a:cs typeface="Calibri" pitchFamily="34" charset="-120"/>
              </a:rPr>
              <a:t>Narrative synthesis of the research base for a coordinated data system, screening tools, and equity in school data.</a:t>
            </a:r>
            <a:endParaRPr lang="en-US" sz="1150" dirty="0"/>
          </a:p>
        </p:txBody>
      </p:sp>
      <p:sp>
        <p:nvSpPr>
          <p:cNvPr id="7" name="Text 5"/>
          <p:cNvSpPr/>
          <p:nvPr/>
        </p:nvSpPr>
        <p:spPr>
          <a:xfrm>
            <a:off x="502920" y="2679192"/>
            <a:ext cx="822960" cy="960120"/>
          </a:xfrm>
          <a:prstGeom prst="rect">
            <a:avLst/>
          </a:prstGeom>
          <a:noFill/>
          <a:ln/>
        </p:spPr>
        <p:txBody>
          <a:bodyPr wrap="square" rtlCol="0" anchor="ctr"/>
          <a:lstStyle/>
          <a:p>
            <a:pPr marL="0" indent="0">
              <a:buNone/>
            </a:pPr>
            <a:r>
              <a:rPr lang="en-US" sz="3000" b="1" dirty="0">
                <a:solidFill>
                  <a:srgbClr val="B8860B"/>
                </a:solidFill>
                <a:latin typeface="Cambria" pitchFamily="34" charset="0"/>
                <a:ea typeface="Cambria" pitchFamily="34" charset="-122"/>
                <a:cs typeface="Cambria" pitchFamily="34" charset="-120"/>
              </a:rPr>
              <a:t>02</a:t>
            </a:r>
            <a:endParaRPr lang="en-US" sz="3000" dirty="0"/>
          </a:p>
        </p:txBody>
      </p:sp>
      <p:sp>
        <p:nvSpPr>
          <p:cNvPr id="8" name="Text 6"/>
          <p:cNvSpPr/>
          <p:nvPr/>
        </p:nvSpPr>
        <p:spPr>
          <a:xfrm>
            <a:off x="1417320" y="2697480"/>
            <a:ext cx="6126480" cy="365760"/>
          </a:xfrm>
          <a:prstGeom prst="rect">
            <a:avLst/>
          </a:prstGeom>
          <a:noFill/>
          <a:ln/>
        </p:spPr>
        <p:txBody>
          <a:bodyPr wrap="square" rtlCol="0" anchor="ctr"/>
          <a:lstStyle/>
          <a:p>
            <a:pPr marL="0" indent="0">
              <a:buNone/>
            </a:pPr>
            <a:r>
              <a:rPr lang="en-US" sz="1500" b="1" dirty="0">
                <a:solidFill>
                  <a:srgbClr val="1B3A5C"/>
                </a:solidFill>
                <a:latin typeface="Calibri" pitchFamily="34" charset="0"/>
                <a:ea typeface="Calibri" pitchFamily="34" charset="-122"/>
                <a:cs typeface="Calibri" pitchFamily="34" charset="-120"/>
              </a:rPr>
              <a:t>Environmental Scan</a:t>
            </a:r>
            <a:endParaRPr lang="en-US" sz="1500" dirty="0"/>
          </a:p>
        </p:txBody>
      </p:sp>
      <p:sp>
        <p:nvSpPr>
          <p:cNvPr id="9" name="Text 7"/>
          <p:cNvSpPr/>
          <p:nvPr/>
        </p:nvSpPr>
        <p:spPr>
          <a:xfrm>
            <a:off x="1417320" y="3063240"/>
            <a:ext cx="6126480" cy="594360"/>
          </a:xfrm>
          <a:prstGeom prst="rect">
            <a:avLst/>
          </a:prstGeom>
          <a:noFill/>
          <a:ln/>
        </p:spPr>
        <p:txBody>
          <a:bodyPr wrap="square" rtlCol="0" anchor="ctr"/>
          <a:lstStyle/>
          <a:p>
            <a:pPr marL="0" indent="0">
              <a:lnSpc>
                <a:spcPts val="1400"/>
              </a:lnSpc>
              <a:buNone/>
            </a:pPr>
            <a:r>
              <a:rPr lang="en-US" sz="1150" dirty="0">
                <a:solidFill>
                  <a:srgbClr val="5A6B7A"/>
                </a:solidFill>
                <a:latin typeface="Calibri" pitchFamily="34" charset="0"/>
                <a:ea typeface="Calibri" pitchFamily="34" charset="-122"/>
                <a:cs typeface="Calibri" pitchFamily="34" charset="-120"/>
              </a:rPr>
              <a:t>Documents what EPSD, PSD, and TSD currently measure, what the verified local data shows, and where the critical gaps are.</a:t>
            </a:r>
            <a:endParaRPr lang="en-US" sz="1150" dirty="0"/>
          </a:p>
        </p:txBody>
      </p:sp>
      <p:sp>
        <p:nvSpPr>
          <p:cNvPr id="10" name="Text 8"/>
          <p:cNvSpPr/>
          <p:nvPr/>
        </p:nvSpPr>
        <p:spPr>
          <a:xfrm>
            <a:off x="502920" y="3758184"/>
            <a:ext cx="822960" cy="960120"/>
          </a:xfrm>
          <a:prstGeom prst="rect">
            <a:avLst/>
          </a:prstGeom>
          <a:noFill/>
          <a:ln/>
        </p:spPr>
        <p:txBody>
          <a:bodyPr wrap="square" rtlCol="0" anchor="ctr"/>
          <a:lstStyle/>
          <a:p>
            <a:pPr marL="0" indent="0">
              <a:buNone/>
            </a:pPr>
            <a:r>
              <a:rPr lang="en-US" sz="3000" b="1" dirty="0">
                <a:solidFill>
                  <a:srgbClr val="B8860B"/>
                </a:solidFill>
                <a:latin typeface="Cambria" pitchFamily="34" charset="0"/>
                <a:ea typeface="Cambria" pitchFamily="34" charset="-122"/>
                <a:cs typeface="Cambria" pitchFamily="34" charset="-120"/>
              </a:rPr>
              <a:t>03</a:t>
            </a:r>
            <a:endParaRPr lang="en-US" sz="3000" dirty="0"/>
          </a:p>
        </p:txBody>
      </p:sp>
      <p:sp>
        <p:nvSpPr>
          <p:cNvPr id="11" name="Text 9"/>
          <p:cNvSpPr/>
          <p:nvPr/>
        </p:nvSpPr>
        <p:spPr>
          <a:xfrm>
            <a:off x="1417320" y="3776472"/>
            <a:ext cx="6126480" cy="365760"/>
          </a:xfrm>
          <a:prstGeom prst="rect">
            <a:avLst/>
          </a:prstGeom>
          <a:noFill/>
          <a:ln/>
        </p:spPr>
        <p:txBody>
          <a:bodyPr wrap="square" rtlCol="0" anchor="ctr"/>
          <a:lstStyle/>
          <a:p>
            <a:pPr marL="0" indent="0">
              <a:buNone/>
            </a:pPr>
            <a:r>
              <a:rPr lang="en-US" sz="1500" b="1" dirty="0">
                <a:solidFill>
                  <a:srgbClr val="1B3A5C"/>
                </a:solidFill>
                <a:latin typeface="Calibri" pitchFamily="34" charset="0"/>
                <a:ea typeface="Calibri" pitchFamily="34" charset="-122"/>
                <a:cs typeface="Calibri" pitchFamily="34" charset="-120"/>
              </a:rPr>
              <a:t>Survey Crosswalk Workbook</a:t>
            </a:r>
            <a:endParaRPr lang="en-US" sz="1500" dirty="0"/>
          </a:p>
        </p:txBody>
      </p:sp>
      <p:sp>
        <p:nvSpPr>
          <p:cNvPr id="12" name="Text 10"/>
          <p:cNvSpPr/>
          <p:nvPr/>
        </p:nvSpPr>
        <p:spPr>
          <a:xfrm>
            <a:off x="1417320" y="4142232"/>
            <a:ext cx="6126480" cy="594360"/>
          </a:xfrm>
          <a:prstGeom prst="rect">
            <a:avLst/>
          </a:prstGeom>
          <a:noFill/>
          <a:ln/>
        </p:spPr>
        <p:txBody>
          <a:bodyPr wrap="square" rtlCol="0" anchor="ctr"/>
          <a:lstStyle/>
          <a:p>
            <a:pPr marL="0" indent="0">
              <a:lnSpc>
                <a:spcPts val="1400"/>
              </a:lnSpc>
              <a:buNone/>
            </a:pPr>
            <a:r>
              <a:rPr lang="en-US" sz="1150" dirty="0">
                <a:solidFill>
                  <a:srgbClr val="5A6B7A"/>
                </a:solidFill>
                <a:latin typeface="Calibri" pitchFamily="34" charset="0"/>
                <a:ea typeface="Calibri" pitchFamily="34" charset="-122"/>
                <a:cs typeface="Calibri" pitchFamily="34" charset="-120"/>
              </a:rPr>
              <a:t>37 constructs mapped across 5 domains and 7 instruments, with source-verified equivalence findings and a documented alignment-coding system.</a:t>
            </a:r>
            <a:endParaRPr lang="en-US" sz="1150" dirty="0"/>
          </a:p>
        </p:txBody>
      </p:sp>
      <p:sp>
        <p:nvSpPr>
          <p:cNvPr id="13" name="Text 11"/>
          <p:cNvSpPr/>
          <p:nvPr/>
        </p:nvSpPr>
        <p:spPr>
          <a:xfrm>
            <a:off x="502920" y="4837176"/>
            <a:ext cx="822960" cy="960120"/>
          </a:xfrm>
          <a:prstGeom prst="rect">
            <a:avLst/>
          </a:prstGeom>
          <a:noFill/>
          <a:ln/>
        </p:spPr>
        <p:txBody>
          <a:bodyPr wrap="square" rtlCol="0" anchor="ctr"/>
          <a:lstStyle/>
          <a:p>
            <a:pPr marL="0" indent="0">
              <a:buNone/>
            </a:pPr>
            <a:r>
              <a:rPr lang="en-US" sz="3000" b="1" dirty="0">
                <a:solidFill>
                  <a:srgbClr val="B8860B"/>
                </a:solidFill>
                <a:latin typeface="Cambria" pitchFamily="34" charset="0"/>
                <a:ea typeface="Cambria" pitchFamily="34" charset="-122"/>
                <a:cs typeface="Cambria" pitchFamily="34" charset="-120"/>
              </a:rPr>
              <a:t>04</a:t>
            </a:r>
            <a:endParaRPr lang="en-US" sz="3000" dirty="0"/>
          </a:p>
        </p:txBody>
      </p:sp>
      <p:sp>
        <p:nvSpPr>
          <p:cNvPr id="14" name="Text 12"/>
          <p:cNvSpPr/>
          <p:nvPr/>
        </p:nvSpPr>
        <p:spPr>
          <a:xfrm>
            <a:off x="1417320" y="4855464"/>
            <a:ext cx="6126480" cy="365760"/>
          </a:xfrm>
          <a:prstGeom prst="rect">
            <a:avLst/>
          </a:prstGeom>
          <a:noFill/>
          <a:ln/>
        </p:spPr>
        <p:txBody>
          <a:bodyPr wrap="square" rtlCol="0" anchor="ctr"/>
          <a:lstStyle/>
          <a:p>
            <a:pPr marL="0" indent="0">
              <a:buNone/>
            </a:pPr>
            <a:r>
              <a:rPr lang="en-US" sz="1500" b="1" dirty="0">
                <a:solidFill>
                  <a:srgbClr val="1B3A5C"/>
                </a:solidFill>
                <a:latin typeface="Calibri" pitchFamily="34" charset="0"/>
                <a:ea typeface="Calibri" pitchFamily="34" charset="-122"/>
                <a:cs typeface="Calibri" pitchFamily="34" charset="-120"/>
              </a:rPr>
              <a:t>Shared Metric Recommendations</a:t>
            </a:r>
            <a:endParaRPr lang="en-US" sz="1500" dirty="0"/>
          </a:p>
        </p:txBody>
      </p:sp>
      <p:sp>
        <p:nvSpPr>
          <p:cNvPr id="15" name="Text 13"/>
          <p:cNvSpPr/>
          <p:nvPr/>
        </p:nvSpPr>
        <p:spPr>
          <a:xfrm>
            <a:off x="1417320" y="5221224"/>
            <a:ext cx="6126480" cy="594360"/>
          </a:xfrm>
          <a:prstGeom prst="rect">
            <a:avLst/>
          </a:prstGeom>
          <a:noFill/>
          <a:ln/>
        </p:spPr>
        <p:txBody>
          <a:bodyPr wrap="square" rtlCol="0" anchor="ctr"/>
          <a:lstStyle/>
          <a:p>
            <a:pPr marL="0" indent="0">
              <a:lnSpc>
                <a:spcPts val="1400"/>
              </a:lnSpc>
              <a:buNone/>
            </a:pPr>
            <a:r>
              <a:rPr lang="en-US" sz="1150" dirty="0">
                <a:solidFill>
                  <a:srgbClr val="5A6B7A"/>
                </a:solidFill>
                <a:latin typeface="Calibri" pitchFamily="34" charset="0"/>
                <a:ea typeface="Calibri" pitchFamily="34" charset="-122"/>
                <a:cs typeface="Calibri" pitchFamily="34" charset="-120"/>
              </a:rPr>
              <a:t>Nine specific survey items, in four tiers, recommended for cross-district adoption.</a:t>
            </a:r>
            <a:endParaRPr lang="en-US" sz="1150" dirty="0"/>
          </a:p>
        </p:txBody>
      </p:sp>
      <p:sp>
        <p:nvSpPr>
          <p:cNvPr id="16" name="Shape 14"/>
          <p:cNvSpPr/>
          <p:nvPr/>
        </p:nvSpPr>
        <p:spPr>
          <a:xfrm>
            <a:off x="8001000" y="1600200"/>
            <a:ext cx="3611880" cy="4343400"/>
          </a:xfrm>
          <a:prstGeom prst="roundRect">
            <a:avLst>
              <a:gd name="adj" fmla="val 2025"/>
            </a:avLst>
          </a:prstGeom>
          <a:solidFill>
            <a:srgbClr val="1B3A5C"/>
          </a:solidFill>
          <a:ln/>
        </p:spPr>
        <p:txBody>
          <a:bodyPr/>
          <a:lstStyle/>
          <a:p>
            <a:endParaRPr lang="en-US"/>
          </a:p>
        </p:txBody>
      </p:sp>
      <p:sp>
        <p:nvSpPr>
          <p:cNvPr id="17" name="Text 15"/>
          <p:cNvSpPr/>
          <p:nvPr/>
        </p:nvSpPr>
        <p:spPr>
          <a:xfrm>
            <a:off x="8321040" y="1874520"/>
            <a:ext cx="3017520" cy="320040"/>
          </a:xfrm>
          <a:prstGeom prst="rect">
            <a:avLst/>
          </a:prstGeom>
          <a:noFill/>
          <a:ln/>
        </p:spPr>
        <p:txBody>
          <a:bodyPr wrap="square" rtlCol="0" anchor="ctr"/>
          <a:lstStyle/>
          <a:p>
            <a:pPr marL="0" indent="0">
              <a:buNone/>
            </a:pPr>
            <a:r>
              <a:rPr lang="en-US" sz="1100" b="1" kern="0" spc="150" dirty="0">
                <a:solidFill>
                  <a:srgbClr val="B8860B"/>
                </a:solidFill>
                <a:latin typeface="Calibri" pitchFamily="34" charset="0"/>
                <a:ea typeface="Calibri" pitchFamily="34" charset="-122"/>
                <a:cs typeface="Calibri" pitchFamily="34" charset="-120"/>
              </a:rPr>
              <a:t>THE STANDARD</a:t>
            </a:r>
            <a:endParaRPr lang="en-US" sz="1100" dirty="0"/>
          </a:p>
        </p:txBody>
      </p:sp>
      <p:sp>
        <p:nvSpPr>
          <p:cNvPr id="18" name="Text 16"/>
          <p:cNvSpPr/>
          <p:nvPr/>
        </p:nvSpPr>
        <p:spPr>
          <a:xfrm>
            <a:off x="8321040" y="2286000"/>
            <a:ext cx="3017520" cy="1371600"/>
          </a:xfrm>
          <a:prstGeom prst="rect">
            <a:avLst/>
          </a:prstGeom>
          <a:noFill/>
          <a:ln/>
        </p:spPr>
        <p:txBody>
          <a:bodyPr wrap="square" rtlCol="0" anchor="ctr"/>
          <a:lstStyle/>
          <a:p>
            <a:pPr marL="0" indent="0">
              <a:lnSpc>
                <a:spcPts val="1700"/>
              </a:lnSpc>
              <a:buNone/>
            </a:pPr>
            <a:r>
              <a:rPr lang="en-US" sz="1200" dirty="0">
                <a:solidFill>
                  <a:srgbClr val="FFFFFF"/>
                </a:solidFill>
                <a:latin typeface="Calibri" pitchFamily="34" charset="0"/>
                <a:ea typeface="Calibri" pitchFamily="34" charset="-122"/>
                <a:cs typeface="Calibri" pitchFamily="34" charset="-120"/>
              </a:rPr>
              <a:t>Every statistic in these deliverables is verified against uploaded documents, public data, or primary sources before inclusion. Where deliverables conflicted, the conflict was named and resolved, not smoothed over.</a:t>
            </a:r>
            <a:endParaRPr lang="en-US" sz="1200" dirty="0"/>
          </a:p>
        </p:txBody>
      </p:sp>
      <p:sp>
        <p:nvSpPr>
          <p:cNvPr id="19" name="Shape 17"/>
          <p:cNvSpPr/>
          <p:nvPr/>
        </p:nvSpPr>
        <p:spPr>
          <a:xfrm>
            <a:off x="8321040" y="3794760"/>
            <a:ext cx="3017520" cy="0"/>
          </a:xfrm>
          <a:prstGeom prst="line">
            <a:avLst/>
          </a:prstGeom>
          <a:noFill/>
          <a:ln w="12700">
            <a:solidFill>
              <a:srgbClr val="3D5A78"/>
            </a:solidFill>
            <a:prstDash val="solid"/>
          </a:ln>
        </p:spPr>
        <p:txBody>
          <a:bodyPr/>
          <a:lstStyle/>
          <a:p>
            <a:endParaRPr lang="en-US"/>
          </a:p>
        </p:txBody>
      </p:sp>
      <p:sp>
        <p:nvSpPr>
          <p:cNvPr id="20" name="Text 18"/>
          <p:cNvSpPr/>
          <p:nvPr/>
        </p:nvSpPr>
        <p:spPr>
          <a:xfrm>
            <a:off x="8321040" y="3977640"/>
            <a:ext cx="3017520" cy="1737360"/>
          </a:xfrm>
          <a:prstGeom prst="rect">
            <a:avLst/>
          </a:prstGeom>
          <a:noFill/>
          <a:ln/>
        </p:spPr>
        <p:txBody>
          <a:bodyPr wrap="square" rtlCol="0" anchor="ctr"/>
          <a:lstStyle/>
          <a:p>
            <a:pPr marL="0" indent="0">
              <a:lnSpc>
                <a:spcPts val="1700"/>
              </a:lnSpc>
              <a:buNone/>
            </a:pPr>
            <a:r>
              <a:rPr lang="en-US" sz="1200" dirty="0">
                <a:solidFill>
                  <a:srgbClr val="CADCE8"/>
                </a:solidFill>
                <a:latin typeface="Calibri" pitchFamily="34" charset="0"/>
                <a:ea typeface="Calibri" pitchFamily="34" charset="-122"/>
                <a:cs typeface="Calibri" pitchFamily="34" charset="-120"/>
              </a:rPr>
              <a:t>D3’s verified crosswalk findings take precedence. Three substantive contradictions between D3 and the D4 metric recommendations were identified and corrected during production.</a:t>
            </a:r>
            <a:endParaRPr lang="en-US" sz="1200" dirty="0"/>
          </a:p>
        </p:txBody>
      </p:sp>
      <p:sp>
        <p:nvSpPr>
          <p:cNvPr id="21" name="Text 19"/>
          <p:cNvSpPr/>
          <p:nvPr/>
        </p:nvSpPr>
        <p:spPr>
          <a:xfrm>
            <a:off x="457200" y="6537960"/>
            <a:ext cx="8686800"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All four deliverables reviewed and approved ahead of the original 16-week schedule</a:t>
            </a:r>
            <a:endParaRPr lang="en-US" sz="900" dirty="0"/>
          </a:p>
        </p:txBody>
      </p:sp>
      <p:sp>
        <p:nvSpPr>
          <p:cNvPr id="22" name="Text 2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marL="0" indent="0">
              <a:buNone/>
            </a:pPr>
            <a:r>
              <a:rPr lang="en-US" sz="1250" b="1" kern="0" spc="150" dirty="0">
                <a:solidFill>
                  <a:srgbClr val="2066A8"/>
                </a:solidFill>
                <a:latin typeface="Calibri" pitchFamily="34" charset="0"/>
                <a:ea typeface="Calibri" pitchFamily="34" charset="-122"/>
                <a:cs typeface="Calibri" pitchFamily="34" charset="-120"/>
              </a:rPr>
              <a:t>WHAT WE FOUND</a:t>
            </a:r>
            <a:endParaRPr lang="en-US" sz="1250" dirty="0"/>
          </a:p>
        </p:txBody>
      </p:sp>
      <p:sp>
        <p:nvSpPr>
          <p:cNvPr id="3" name="Text 1"/>
          <p:cNvSpPr/>
          <p:nvPr/>
        </p:nvSpPr>
        <p:spPr>
          <a:xfrm>
            <a:off x="502920" y="685800"/>
            <a:ext cx="11155680" cy="777240"/>
          </a:xfrm>
          <a:prstGeom prst="rect">
            <a:avLst/>
          </a:prstGeom>
          <a:noFill/>
          <a:ln/>
        </p:spPr>
        <p:txBody>
          <a:bodyPr wrap="square" rtlCol="0" anchor="ctr"/>
          <a:lstStyle/>
          <a:p>
            <a:pPr marL="0" indent="0">
              <a:buNone/>
            </a:pPr>
            <a:r>
              <a:rPr lang="en-US" sz="2900" b="1" dirty="0">
                <a:solidFill>
                  <a:srgbClr val="1B3A5C"/>
                </a:solidFill>
                <a:latin typeface="Cambria" pitchFamily="34" charset="0"/>
                <a:ea typeface="Cambria" pitchFamily="34" charset="-122"/>
                <a:cs typeface="Cambria" pitchFamily="34" charset="-120"/>
              </a:rPr>
              <a:t>Seven instruments. Thirty-seven constructs. Incompatible data.</a:t>
            </a:r>
            <a:endParaRPr lang="en-US" sz="2900" dirty="0"/>
          </a:p>
        </p:txBody>
      </p:sp>
      <p:sp>
        <p:nvSpPr>
          <p:cNvPr id="4" name="Text 2"/>
          <p:cNvSpPr/>
          <p:nvPr/>
        </p:nvSpPr>
        <p:spPr>
          <a:xfrm>
            <a:off x="502920" y="1508760"/>
            <a:ext cx="6126480" cy="1371600"/>
          </a:xfrm>
          <a:prstGeom prst="rect">
            <a:avLst/>
          </a:prstGeom>
          <a:noFill/>
          <a:ln/>
        </p:spPr>
        <p:txBody>
          <a:bodyPr wrap="square" rtlCol="0" anchor="ctr"/>
          <a:lstStyle/>
          <a:p>
            <a:pPr marL="0" indent="0">
              <a:lnSpc>
                <a:spcPts val="2000"/>
              </a:lnSpc>
              <a:buNone/>
            </a:pPr>
            <a:r>
              <a:rPr lang="en-US" sz="1350" dirty="0">
                <a:solidFill>
                  <a:srgbClr val="1B3A5C"/>
                </a:solidFill>
                <a:latin typeface="Calibri" pitchFamily="34" charset="0"/>
                <a:ea typeface="Calibri" pitchFamily="34" charset="-122"/>
                <a:cs typeface="Calibri" pitchFamily="34" charset="-120"/>
              </a:rPr>
              <a:t>EPSD, PSD, and TSD each run their own behavioral health surveys, alongside the HKCS. Every district is genuinely trying. But the instruments use different wording, different scales, and different schedules, which makes direct cross-district comparison essentially impossible today.</a:t>
            </a:r>
            <a:endParaRPr lang="en-US" sz="13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3017520"/>
          <a:ext cx="6126480" cy="1965960"/>
        </p:xfrm>
        <a:graphic>
          <a:graphicData uri="http://schemas.openxmlformats.org/drawingml/2006/table">
            <a:tbl>
              <a:tblPr/>
              <a:tblGrid>
                <a:gridCol w="32004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327660">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Instrument</a:t>
                      </a:r>
                      <a:endParaRPr lang="en-US" sz="1050" dirty="0">
                        <a:latin typeface="Calibri" charset="0"/>
                        <a:ea typeface="Calibri" charset="0"/>
                        <a:cs typeface="Calibri" charset="0"/>
                      </a:endParaRPr>
                    </a:p>
                  </a:txBody>
                  <a:tcPr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1B3A5C"/>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District</a:t>
                      </a:r>
                      <a:endParaRPr lang="en-US" sz="1050" dirty="0">
                        <a:latin typeface="Calibri" charset="0"/>
                        <a:ea typeface="Calibri" charset="0"/>
                        <a:cs typeface="Calibri" charset="0"/>
                      </a:endParaRPr>
                    </a:p>
                  </a:txBody>
                  <a:tcPr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1B3A5C"/>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Anonymous</a:t>
                      </a:r>
                      <a:endParaRPr lang="en-US" sz="1050" dirty="0">
                        <a:latin typeface="Calibri" charset="0"/>
                        <a:ea typeface="Calibri" charset="0"/>
                        <a:cs typeface="Calibri" charset="0"/>
                      </a:endParaRPr>
                    </a:p>
                  </a:txBody>
                  <a:tcPr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327660">
                <a:tc>
                  <a:txBody>
                    <a:bodyPr/>
                    <a:lstStyle/>
                    <a:p>
                      <a:pPr marL="0" indent="0" algn="l">
                        <a:buNone/>
                      </a:pPr>
                      <a:r>
                        <a:rPr lang="en-US" sz="1050" dirty="0">
                          <a:solidFill>
                            <a:srgbClr val="1B3A5C"/>
                          </a:solidFill>
                          <a:latin typeface="Calibri" pitchFamily="34" charset="0"/>
                          <a:ea typeface="Calibri" pitchFamily="34" charset="-122"/>
                          <a:cs typeface="Calibri" pitchFamily="34" charset="-120"/>
                        </a:rPr>
                        <a:t>HKCS 2025 (High School)</a:t>
                      </a:r>
                      <a:endParaRPr lang="en-US" sz="1050" dirty="0">
                        <a:latin typeface="Calibri" charset="0"/>
                        <a:ea typeface="Calibri" charset="0"/>
                        <a:cs typeface="Calibri" charset="0"/>
                      </a:endParaRPr>
                    </a:p>
                  </a:txBody>
                  <a:tcPr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B3A5C"/>
                          </a:solidFill>
                          <a:latin typeface="Calibri" pitchFamily="34" charset="0"/>
                          <a:ea typeface="Calibri" pitchFamily="34" charset="-122"/>
                          <a:cs typeface="Calibri" pitchFamily="34" charset="-120"/>
                        </a:rPr>
                        <a:t>TSD (select schools)</a:t>
                      </a:r>
                      <a:endParaRPr lang="en-US" sz="1050" dirty="0">
                        <a:latin typeface="Calibri" charset="0"/>
                        <a:ea typeface="Calibri" charset="0"/>
                        <a:cs typeface="Calibri" charset="0"/>
                      </a:endParaRPr>
                    </a:p>
                  </a:txBody>
                  <a:tcPr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B3A5C"/>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7660">
                <a:tc>
                  <a:txBody>
                    <a:bodyPr/>
                    <a:lstStyle/>
                    <a:p>
                      <a:pPr marL="0" indent="0" algn="l">
                        <a:buNone/>
                      </a:pPr>
                      <a:r>
                        <a:rPr lang="en-US" sz="1050" dirty="0">
                          <a:solidFill>
                            <a:srgbClr val="1B3A5C"/>
                          </a:solidFill>
                          <a:latin typeface="Calibri" pitchFamily="34" charset="0"/>
                          <a:ea typeface="Calibri" pitchFamily="34" charset="-122"/>
                          <a:cs typeface="Calibri" pitchFamily="34" charset="-120"/>
                        </a:rPr>
                        <a:t>Panorama SEL</a:t>
                      </a:r>
                      <a:endParaRPr lang="en-US" sz="1050" dirty="0">
                        <a:latin typeface="Calibri" charset="0"/>
                        <a:ea typeface="Calibri" charset="0"/>
                        <a:cs typeface="Calibri" charset="0"/>
                      </a:endParaRPr>
                    </a:p>
                  </a:txBody>
                  <a:tcPr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E8EEF4"/>
                    </a:solidFill>
                  </a:tcPr>
                </a:tc>
                <a:tc>
                  <a:txBody>
                    <a:bodyPr/>
                    <a:lstStyle/>
                    <a:p>
                      <a:pPr marL="0" indent="0" algn="ctr">
                        <a:buNone/>
                      </a:pPr>
                      <a:r>
                        <a:rPr lang="en-US" sz="1050" dirty="0">
                          <a:solidFill>
                            <a:srgbClr val="1B3A5C"/>
                          </a:solidFill>
                          <a:latin typeface="Calibri" pitchFamily="34" charset="0"/>
                          <a:ea typeface="Calibri" pitchFamily="34" charset="-122"/>
                          <a:cs typeface="Calibri" pitchFamily="34" charset="-120"/>
                        </a:rPr>
                        <a:t>EPSD</a:t>
                      </a:r>
                      <a:endParaRPr lang="en-US" sz="1050" dirty="0">
                        <a:latin typeface="Calibri" charset="0"/>
                        <a:ea typeface="Calibri" charset="0"/>
                        <a:cs typeface="Calibri" charset="0"/>
                      </a:endParaRPr>
                    </a:p>
                  </a:txBody>
                  <a:tcPr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E8EEF4"/>
                    </a:solidFill>
                  </a:tcPr>
                </a:tc>
                <a:tc>
                  <a:txBody>
                    <a:bodyPr/>
                    <a:lstStyle/>
                    <a:p>
                      <a:pPr marL="0" indent="0" algn="ctr">
                        <a:buNone/>
                      </a:pPr>
                      <a:r>
                        <a:rPr lang="en-US" sz="1050" dirty="0">
                          <a:solidFill>
                            <a:srgbClr val="1B3A5C"/>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E8EEF4"/>
                    </a:solidFill>
                  </a:tcPr>
                </a:tc>
                <a:extLst>
                  <a:ext uri="{0D108BD9-81ED-4DB2-BD59-A6C34878D82A}">
                    <a16:rowId xmlns:a16="http://schemas.microsoft.com/office/drawing/2014/main" val="10002"/>
                  </a:ext>
                </a:extLst>
              </a:tr>
              <a:tr h="327660">
                <a:tc>
                  <a:txBody>
                    <a:bodyPr/>
                    <a:lstStyle/>
                    <a:p>
                      <a:pPr marL="0" indent="0" algn="l">
                        <a:buNone/>
                      </a:pPr>
                      <a:r>
                        <a:rPr lang="en-US" sz="1050" dirty="0">
                          <a:solidFill>
                            <a:srgbClr val="1B3A5C"/>
                          </a:solidFill>
                          <a:latin typeface="Calibri" pitchFamily="34" charset="0"/>
                          <a:ea typeface="Calibri" pitchFamily="34" charset="-122"/>
                          <a:cs typeface="Calibri" pitchFamily="34" charset="-120"/>
                        </a:rPr>
                        <a:t>CO Student Perception Survey</a:t>
                      </a:r>
                      <a:endParaRPr lang="en-US" sz="1050" dirty="0">
                        <a:latin typeface="Calibri" charset="0"/>
                        <a:ea typeface="Calibri" charset="0"/>
                        <a:cs typeface="Calibri" charset="0"/>
                      </a:endParaRPr>
                    </a:p>
                  </a:txBody>
                  <a:tcPr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B3A5C"/>
                          </a:solidFill>
                          <a:latin typeface="Calibri" pitchFamily="34" charset="0"/>
                          <a:ea typeface="Calibri" pitchFamily="34" charset="-122"/>
                          <a:cs typeface="Calibri" pitchFamily="34" charset="-120"/>
                        </a:rPr>
                        <a:t>EPSD</a:t>
                      </a:r>
                      <a:endParaRPr lang="en-US" sz="1050" dirty="0">
                        <a:latin typeface="Calibri" charset="0"/>
                        <a:ea typeface="Calibri" charset="0"/>
                        <a:cs typeface="Calibri" charset="0"/>
                      </a:endParaRPr>
                    </a:p>
                  </a:txBody>
                  <a:tcPr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B3A5C"/>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7660">
                <a:tc>
                  <a:txBody>
                    <a:bodyPr/>
                    <a:lstStyle/>
                    <a:p>
                      <a:pPr marL="0" indent="0" algn="l">
                        <a:buNone/>
                      </a:pPr>
                      <a:r>
                        <a:rPr lang="en-US" sz="1050" dirty="0">
                          <a:solidFill>
                            <a:srgbClr val="1B3A5C"/>
                          </a:solidFill>
                          <a:latin typeface="Calibri" pitchFamily="34" charset="0"/>
                          <a:ea typeface="Calibri" pitchFamily="34" charset="-122"/>
                          <a:cs typeface="Calibri" pitchFamily="34" charset="-120"/>
                        </a:rPr>
                        <a:t>Student Connections Check-In</a:t>
                      </a:r>
                      <a:endParaRPr lang="en-US" sz="1050" dirty="0">
                        <a:latin typeface="Calibri" charset="0"/>
                        <a:ea typeface="Calibri" charset="0"/>
                        <a:cs typeface="Calibri" charset="0"/>
                      </a:endParaRPr>
                    </a:p>
                  </a:txBody>
                  <a:tcPr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E8EEF4"/>
                    </a:solidFill>
                  </a:tcPr>
                </a:tc>
                <a:tc>
                  <a:txBody>
                    <a:bodyPr/>
                    <a:lstStyle/>
                    <a:p>
                      <a:pPr marL="0" indent="0" algn="ctr">
                        <a:buNone/>
                      </a:pPr>
                      <a:r>
                        <a:rPr lang="en-US" sz="1050" dirty="0">
                          <a:solidFill>
                            <a:srgbClr val="1B3A5C"/>
                          </a:solidFill>
                          <a:latin typeface="Calibri" pitchFamily="34" charset="0"/>
                          <a:ea typeface="Calibri" pitchFamily="34" charset="-122"/>
                          <a:cs typeface="Calibri" pitchFamily="34" charset="-120"/>
                        </a:rPr>
                        <a:t>PSD</a:t>
                      </a:r>
                      <a:endParaRPr lang="en-US" sz="1050" dirty="0">
                        <a:latin typeface="Calibri" charset="0"/>
                        <a:ea typeface="Calibri" charset="0"/>
                        <a:cs typeface="Calibri" charset="0"/>
                      </a:endParaRPr>
                    </a:p>
                  </a:txBody>
                  <a:tcPr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E8EEF4"/>
                    </a:solidFill>
                  </a:tcPr>
                </a:tc>
                <a:tc>
                  <a:txBody>
                    <a:bodyPr/>
                    <a:lstStyle/>
                    <a:p>
                      <a:pPr marL="0" indent="0" algn="ctr">
                        <a:buNone/>
                      </a:pPr>
                      <a:r>
                        <a:rPr lang="en-US" sz="1050" dirty="0">
                          <a:solidFill>
                            <a:srgbClr val="1B3A5C"/>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E8EEF4"/>
                    </a:solidFill>
                  </a:tcPr>
                </a:tc>
                <a:extLst>
                  <a:ext uri="{0D108BD9-81ED-4DB2-BD59-A6C34878D82A}">
                    <a16:rowId xmlns:a16="http://schemas.microsoft.com/office/drawing/2014/main" val="10004"/>
                  </a:ext>
                </a:extLst>
              </a:tr>
              <a:tr h="327660">
                <a:tc>
                  <a:txBody>
                    <a:bodyPr/>
                    <a:lstStyle/>
                    <a:p>
                      <a:pPr marL="0" indent="0" algn="l">
                        <a:buNone/>
                      </a:pPr>
                      <a:r>
                        <a:rPr lang="en-US" sz="1050" dirty="0">
                          <a:solidFill>
                            <a:srgbClr val="1B3A5C"/>
                          </a:solidFill>
                          <a:latin typeface="Calibri" pitchFamily="34" charset="0"/>
                          <a:ea typeface="Calibri" pitchFamily="34" charset="-122"/>
                          <a:cs typeface="Calibri" pitchFamily="34" charset="-120"/>
                        </a:rPr>
                        <a:t>Panorama Supports &amp; Environments</a:t>
                      </a:r>
                      <a:endParaRPr lang="en-US" sz="1050" dirty="0">
                        <a:latin typeface="Calibri" charset="0"/>
                        <a:ea typeface="Calibri" charset="0"/>
                        <a:cs typeface="Calibri" charset="0"/>
                      </a:endParaRPr>
                    </a:p>
                  </a:txBody>
                  <a:tcPr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B3A5C"/>
                          </a:solidFill>
                          <a:latin typeface="Calibri" pitchFamily="34" charset="0"/>
                          <a:ea typeface="Calibri" pitchFamily="34" charset="-122"/>
                          <a:cs typeface="Calibri" pitchFamily="34" charset="-120"/>
                        </a:rPr>
                        <a:t>TSD</a:t>
                      </a:r>
                      <a:endParaRPr lang="en-US" sz="1050" dirty="0">
                        <a:latin typeface="Calibri" charset="0"/>
                        <a:ea typeface="Calibri" charset="0"/>
                        <a:cs typeface="Calibri" charset="0"/>
                      </a:endParaRPr>
                    </a:p>
                  </a:txBody>
                  <a:tcPr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B3A5C"/>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3"/>
          <p:cNvSpPr/>
          <p:nvPr/>
        </p:nvSpPr>
        <p:spPr>
          <a:xfrm>
            <a:off x="6903720" y="1508760"/>
            <a:ext cx="4709160" cy="3520440"/>
          </a:xfrm>
          <a:prstGeom prst="roundRect">
            <a:avLst>
              <a:gd name="adj" fmla="val 2078"/>
            </a:avLst>
          </a:prstGeom>
          <a:solidFill>
            <a:srgbClr val="FBEAEA"/>
          </a:solidFill>
          <a:ln/>
        </p:spPr>
        <p:txBody>
          <a:bodyPr/>
          <a:lstStyle/>
          <a:p>
            <a:endParaRPr lang="en-US"/>
          </a:p>
        </p:txBody>
      </p:sp>
      <p:pic>
        <p:nvPicPr>
          <p:cNvPr id="7" name="Image 0" descr="/home/claude/deck/icon_warning_navy.png"/>
          <p:cNvPicPr>
            <a:picLocks noChangeAspect="1"/>
          </p:cNvPicPr>
          <p:nvPr/>
        </p:nvPicPr>
        <p:blipFill>
          <a:blip r:embed="rId3"/>
          <a:stretch>
            <a:fillRect/>
          </a:stretch>
        </p:blipFill>
        <p:spPr>
          <a:xfrm>
            <a:off x="7178040" y="1783080"/>
            <a:ext cx="365760" cy="365760"/>
          </a:xfrm>
          <a:prstGeom prst="rect">
            <a:avLst/>
          </a:prstGeom>
        </p:spPr>
      </p:pic>
      <p:sp>
        <p:nvSpPr>
          <p:cNvPr id="8" name="Text 4"/>
          <p:cNvSpPr/>
          <p:nvPr/>
        </p:nvSpPr>
        <p:spPr>
          <a:xfrm>
            <a:off x="7680960" y="1783080"/>
            <a:ext cx="3749040" cy="365760"/>
          </a:xfrm>
          <a:prstGeom prst="rect">
            <a:avLst/>
          </a:prstGeom>
          <a:noFill/>
          <a:ln/>
        </p:spPr>
        <p:txBody>
          <a:bodyPr wrap="square" rtlCol="0" anchor="ctr"/>
          <a:lstStyle/>
          <a:p>
            <a:pPr marL="0" indent="0">
              <a:buNone/>
            </a:pPr>
            <a:r>
              <a:rPr lang="en-US" sz="1250" b="1" kern="0" spc="100" dirty="0">
                <a:solidFill>
                  <a:srgbClr val="B23A48"/>
                </a:solidFill>
                <a:latin typeface="Calibri" pitchFamily="34" charset="0"/>
                <a:ea typeface="Calibri" pitchFamily="34" charset="-122"/>
                <a:cs typeface="Calibri" pitchFamily="34" charset="-120"/>
              </a:rPr>
              <a:t>THE CORE GAP</a:t>
            </a:r>
            <a:endParaRPr lang="en-US" sz="1250" dirty="0"/>
          </a:p>
        </p:txBody>
      </p:sp>
      <p:sp>
        <p:nvSpPr>
          <p:cNvPr id="9" name="Text 5"/>
          <p:cNvSpPr/>
          <p:nvPr/>
        </p:nvSpPr>
        <p:spPr>
          <a:xfrm>
            <a:off x="7178040" y="2286000"/>
            <a:ext cx="4160520" cy="2560320"/>
          </a:xfrm>
          <a:prstGeom prst="rect">
            <a:avLst/>
          </a:prstGeom>
          <a:noFill/>
          <a:ln/>
        </p:spPr>
        <p:txBody>
          <a:bodyPr wrap="square" rtlCol="0" anchor="ctr"/>
          <a:lstStyle/>
          <a:p>
            <a:pPr marL="0" indent="0">
              <a:lnSpc>
                <a:spcPts val="1900"/>
              </a:lnSpc>
              <a:buNone/>
            </a:pPr>
            <a:r>
              <a:rPr lang="en-US" sz="1300" dirty="0">
                <a:solidFill>
                  <a:srgbClr val="1B3A5C"/>
                </a:solidFill>
                <a:latin typeface="Calibri" pitchFamily="34" charset="0"/>
                <a:ea typeface="Calibri" pitchFamily="34" charset="-122"/>
                <a:cs typeface="Calibri" pitchFamily="34" charset="-120"/>
              </a:rPr>
              <a:t>No district collects annual, school-level data on persistent sadness, suicidal ideation, self-harm, or experiences of racism. These are exactly the indicators that would tell a counselor or principal which students are struggling quietly — and right now, none of the three districts is asking.</a:t>
            </a:r>
            <a:endParaRPr lang="en-US" sz="1300" dirty="0"/>
          </a:p>
        </p:txBody>
      </p:sp>
      <p:sp>
        <p:nvSpPr>
          <p:cNvPr id="10" name="Text 6"/>
          <p:cNvSpPr/>
          <p:nvPr/>
        </p:nvSpPr>
        <p:spPr>
          <a:xfrm>
            <a:off x="457200" y="6537960"/>
            <a:ext cx="8686800"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Source: MHSU Alliance Environmental Scan (D2); Survey Crosswalk Workbook (D3), Sheets 2–3</a:t>
            </a:r>
            <a:endParaRPr lang="en-US" sz="900" dirty="0"/>
          </a:p>
        </p:txBody>
      </p:sp>
      <p:sp>
        <p:nvSpPr>
          <p:cNvPr id="11" name="Text 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marL="0" indent="0">
              <a:buNone/>
            </a:pPr>
            <a:r>
              <a:rPr lang="en-US" sz="1250" b="1" kern="0" spc="150" dirty="0">
                <a:solidFill>
                  <a:srgbClr val="2066A8"/>
                </a:solidFill>
                <a:latin typeface="Calibri" pitchFamily="34" charset="0"/>
                <a:ea typeface="Calibri" pitchFamily="34" charset="-122"/>
                <a:cs typeface="Calibri" pitchFamily="34" charset="-120"/>
              </a:rPr>
              <a:t>FROM THE CROSSWALK</a:t>
            </a:r>
            <a:endParaRPr lang="en-US" sz="1250" dirty="0"/>
          </a:p>
        </p:txBody>
      </p:sp>
      <p:sp>
        <p:nvSpPr>
          <p:cNvPr id="3" name="Text 1"/>
          <p:cNvSpPr/>
          <p:nvPr/>
        </p:nvSpPr>
        <p:spPr>
          <a:xfrm>
            <a:off x="502920" y="685800"/>
            <a:ext cx="11155680" cy="777240"/>
          </a:xfrm>
          <a:prstGeom prst="rect">
            <a:avLst/>
          </a:prstGeom>
          <a:noFill/>
          <a:ln/>
        </p:spPr>
        <p:txBody>
          <a:bodyPr wrap="square" rtlCol="0" anchor="ctr"/>
          <a:lstStyle/>
          <a:p>
            <a:pPr marL="0" indent="0">
              <a:buNone/>
            </a:pPr>
            <a:r>
              <a:rPr lang="en-US" sz="2900" b="1" dirty="0">
                <a:solidFill>
                  <a:srgbClr val="1B3A5C"/>
                </a:solidFill>
                <a:latin typeface="Cambria" pitchFamily="34" charset="0"/>
                <a:ea typeface="Cambria" pitchFamily="34" charset="-122"/>
                <a:cs typeface="Cambria" pitchFamily="34" charset="-120"/>
              </a:rPr>
              <a:t>How much of the picture does each instrument already cover?</a:t>
            </a:r>
            <a:endParaRPr lang="en-US" sz="2900" dirty="0"/>
          </a:p>
        </p:txBody>
      </p:sp>
      <p:sp>
        <p:nvSpPr>
          <p:cNvPr id="4" name="Text 2"/>
          <p:cNvSpPr/>
          <p:nvPr/>
        </p:nvSpPr>
        <p:spPr>
          <a:xfrm>
            <a:off x="502920" y="1463040"/>
            <a:ext cx="11155680" cy="914400"/>
          </a:xfrm>
          <a:prstGeom prst="rect">
            <a:avLst/>
          </a:prstGeom>
          <a:noFill/>
          <a:ln/>
        </p:spPr>
        <p:txBody>
          <a:bodyPr wrap="square" rtlCol="0" anchor="ctr"/>
          <a:lstStyle/>
          <a:p>
            <a:pPr marL="0" indent="0">
              <a:lnSpc>
                <a:spcPts val="1700"/>
              </a:lnSpc>
              <a:buNone/>
            </a:pPr>
            <a:r>
              <a:rPr lang="en-US" sz="1250" dirty="0">
                <a:solidFill>
                  <a:srgbClr val="1B3A5C"/>
                </a:solidFill>
                <a:latin typeface="Calibri" pitchFamily="34" charset="0"/>
                <a:ea typeface="Calibri" pitchFamily="34" charset="-122"/>
                <a:cs typeface="Calibri" pitchFamily="34" charset="-120"/>
              </a:rPr>
              <a:t>Every construct in the crosswalk was coded V, W, C, or R against the HKCS anchor instrument. V and W items use matching or near-matching wording; C items measure the same underlying construct in different words. Together, V + W + C is a rough measure of how much of this 37-construct space an instrument already touches in some comparable form.</a:t>
            </a:r>
            <a:endParaRPr lang="en-US" sz="1250" dirty="0"/>
          </a:p>
        </p:txBody>
      </p:sp>
      <p:graphicFrame>
        <p:nvGraphicFramePr>
          <p:cNvPr id="5" name="Chart 0"/>
          <p:cNvGraphicFramePr/>
          <p:nvPr/>
        </p:nvGraphicFramePr>
        <p:xfrm>
          <a:off x="502920" y="2514600"/>
          <a:ext cx="740664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183880" y="2514600"/>
            <a:ext cx="3474720" cy="3520440"/>
          </a:xfrm>
          <a:prstGeom prst="roundRect">
            <a:avLst>
              <a:gd name="adj" fmla="val 2105"/>
            </a:avLst>
          </a:prstGeom>
          <a:solidFill>
            <a:srgbClr val="FBF3E3"/>
          </a:solidFill>
          <a:ln/>
        </p:spPr>
        <p:txBody>
          <a:bodyPr/>
          <a:lstStyle/>
          <a:p>
            <a:endParaRPr lang="en-US"/>
          </a:p>
        </p:txBody>
      </p:sp>
      <p:sp>
        <p:nvSpPr>
          <p:cNvPr id="7" name="Text 4"/>
          <p:cNvSpPr/>
          <p:nvPr/>
        </p:nvSpPr>
        <p:spPr>
          <a:xfrm>
            <a:off x="8458200" y="2743200"/>
            <a:ext cx="2926080" cy="320040"/>
          </a:xfrm>
          <a:prstGeom prst="rect">
            <a:avLst/>
          </a:prstGeom>
          <a:noFill/>
          <a:ln/>
        </p:spPr>
        <p:txBody>
          <a:bodyPr wrap="square" rtlCol="0" anchor="ctr"/>
          <a:lstStyle/>
          <a:p>
            <a:pPr marL="0" indent="0">
              <a:buNone/>
            </a:pPr>
            <a:r>
              <a:rPr lang="en-US" sz="1100" b="1" kern="0" spc="100" dirty="0">
                <a:solidFill>
                  <a:srgbClr val="B8860B"/>
                </a:solidFill>
                <a:latin typeface="Calibri" pitchFamily="34" charset="0"/>
                <a:ea typeface="Calibri" pitchFamily="34" charset="-122"/>
                <a:cs typeface="Calibri" pitchFamily="34" charset="-120"/>
              </a:rPr>
              <a:t>READ THIS CAREFULLY</a:t>
            </a:r>
            <a:endParaRPr lang="en-US" sz="1100" dirty="0"/>
          </a:p>
        </p:txBody>
      </p:sp>
      <p:sp>
        <p:nvSpPr>
          <p:cNvPr id="8" name="Text 5"/>
          <p:cNvSpPr/>
          <p:nvPr/>
        </p:nvSpPr>
        <p:spPr>
          <a:xfrm>
            <a:off x="8458200" y="3108960"/>
            <a:ext cx="2926080" cy="2651760"/>
          </a:xfrm>
          <a:prstGeom prst="rect">
            <a:avLst/>
          </a:prstGeom>
          <a:noFill/>
          <a:ln/>
        </p:spPr>
        <p:txBody>
          <a:bodyPr wrap="square" rtlCol="0" anchor="ctr"/>
          <a:lstStyle/>
          <a:p>
            <a:pPr marL="0" indent="0">
              <a:lnSpc>
                <a:spcPts val="1700"/>
              </a:lnSpc>
              <a:buNone/>
            </a:pPr>
            <a:r>
              <a:rPr lang="en-US" sz="1200" dirty="0">
                <a:solidFill>
                  <a:srgbClr val="1B3A5C"/>
                </a:solidFill>
                <a:latin typeface="Calibri" pitchFamily="34" charset="0"/>
                <a:ea typeface="Calibri" pitchFamily="34" charset="-122"/>
                <a:cs typeface="Calibri" pitchFamily="34" charset="-120"/>
              </a:rPr>
              <a:t>EPSD’s lower percentage reflects confirmed measurement gaps documented in the crosswalk, not a quality problem with EPSD’s instruments. Several constructs, by design, are intentionally specific to one instrument. This chart measures overlap with the HKCS anchor, not instrument quality.</a:t>
            </a:r>
            <a:endParaRPr lang="en-US" sz="1200" dirty="0"/>
          </a:p>
        </p:txBody>
      </p:sp>
      <p:sp>
        <p:nvSpPr>
          <p:cNvPr id="9" name="Text 6"/>
          <p:cNvSpPr/>
          <p:nvPr/>
        </p:nvSpPr>
        <p:spPr>
          <a:xfrm>
            <a:off x="457200" y="6537960"/>
            <a:ext cx="8686800"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Source: Survey Crosswalk Workbook (D3), Sheet 11 — Coverage Dashboard</a:t>
            </a:r>
            <a:endParaRPr lang="en-US" sz="900" dirty="0"/>
          </a:p>
        </p:txBody>
      </p:sp>
      <p:sp>
        <p:nvSpPr>
          <p:cNvPr id="10" name="Text 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marL="0" indent="0">
              <a:buNone/>
            </a:pPr>
            <a:r>
              <a:rPr lang="en-US" sz="1250" b="1" kern="0" spc="150" dirty="0">
                <a:solidFill>
                  <a:srgbClr val="2066A8"/>
                </a:solidFill>
                <a:latin typeface="Calibri" pitchFamily="34" charset="0"/>
                <a:ea typeface="Calibri" pitchFamily="34" charset="-122"/>
                <a:cs typeface="Calibri" pitchFamily="34" charset="-120"/>
              </a:rPr>
              <a:t>WHY AVERAGES MISLEAD</a:t>
            </a:r>
            <a:endParaRPr lang="en-US" sz="1250" dirty="0"/>
          </a:p>
        </p:txBody>
      </p:sp>
      <p:sp>
        <p:nvSpPr>
          <p:cNvPr id="3" name="Text 1"/>
          <p:cNvSpPr/>
          <p:nvPr/>
        </p:nvSpPr>
        <p:spPr>
          <a:xfrm>
            <a:off x="502920" y="685800"/>
            <a:ext cx="11155680" cy="777240"/>
          </a:xfrm>
          <a:prstGeom prst="rect">
            <a:avLst/>
          </a:prstGeom>
          <a:noFill/>
          <a:ln/>
        </p:spPr>
        <p:txBody>
          <a:bodyPr wrap="square" rtlCol="0" anchor="ctr"/>
          <a:lstStyle/>
          <a:p>
            <a:pPr marL="0" indent="0">
              <a:buNone/>
            </a:pPr>
            <a:r>
              <a:rPr lang="en-US" sz="2900" b="1" dirty="0">
                <a:solidFill>
                  <a:srgbClr val="1B3A5C"/>
                </a:solidFill>
                <a:latin typeface="Cambria" pitchFamily="34" charset="0"/>
                <a:ea typeface="Cambria" pitchFamily="34" charset="-122"/>
                <a:cs typeface="Cambria" pitchFamily="34" charset="-120"/>
              </a:rPr>
              <a:t>A county average can hide the students most at risk</a:t>
            </a:r>
            <a:endParaRPr lang="en-US" sz="2900" dirty="0"/>
          </a:p>
        </p:txBody>
      </p:sp>
      <p:sp>
        <p:nvSpPr>
          <p:cNvPr id="4" name="Text 2"/>
          <p:cNvSpPr/>
          <p:nvPr/>
        </p:nvSpPr>
        <p:spPr>
          <a:xfrm>
            <a:off x="502920" y="1463040"/>
            <a:ext cx="5120640" cy="1920240"/>
          </a:xfrm>
          <a:prstGeom prst="rect">
            <a:avLst/>
          </a:prstGeom>
          <a:noFill/>
          <a:ln/>
        </p:spPr>
        <p:txBody>
          <a:bodyPr wrap="square" rtlCol="0" anchor="ctr"/>
          <a:lstStyle/>
          <a:p>
            <a:pPr marL="0" indent="0">
              <a:lnSpc>
                <a:spcPts val="2000"/>
              </a:lnSpc>
              <a:buNone/>
            </a:pPr>
            <a:r>
              <a:rPr lang="en-US" sz="1350" dirty="0">
                <a:solidFill>
                  <a:srgbClr val="1B3A5C"/>
                </a:solidFill>
                <a:latin typeface="Calibri" pitchFamily="34" charset="0"/>
                <a:ea typeface="Calibri" pitchFamily="34" charset="-122"/>
                <a:cs typeface="Calibri" pitchFamily="34" charset="-120"/>
              </a:rPr>
              <a:t>The overall rate looks manageable. The same data, disaggregated, tells a very different story for specific groups of students. This is the single strongest argument for building disaggregation into every shared metric from day one, not adding it later.</a:t>
            </a:r>
            <a:endParaRPr lang="en-US" sz="1350" dirty="0"/>
          </a:p>
        </p:txBody>
      </p:sp>
      <p:sp>
        <p:nvSpPr>
          <p:cNvPr id="5" name="Shape 3"/>
          <p:cNvSpPr/>
          <p:nvPr/>
        </p:nvSpPr>
        <p:spPr>
          <a:xfrm>
            <a:off x="502920" y="3566160"/>
            <a:ext cx="5120640" cy="2423160"/>
          </a:xfrm>
          <a:prstGeom prst="roundRect">
            <a:avLst>
              <a:gd name="adj" fmla="val 3019"/>
            </a:avLst>
          </a:prstGeom>
          <a:solidFill>
            <a:srgbClr val="E8EEF4"/>
          </a:solidFill>
          <a:ln/>
        </p:spPr>
        <p:txBody>
          <a:bodyPr/>
          <a:lstStyle/>
          <a:p>
            <a:endParaRPr lang="en-US"/>
          </a:p>
        </p:txBody>
      </p:sp>
      <p:sp>
        <p:nvSpPr>
          <p:cNvPr id="6" name="Text 4"/>
          <p:cNvSpPr/>
          <p:nvPr/>
        </p:nvSpPr>
        <p:spPr>
          <a:xfrm>
            <a:off x="777240" y="3749040"/>
            <a:ext cx="4572000" cy="320040"/>
          </a:xfrm>
          <a:prstGeom prst="rect">
            <a:avLst/>
          </a:prstGeom>
          <a:noFill/>
          <a:ln/>
        </p:spPr>
        <p:txBody>
          <a:bodyPr wrap="square" rtlCol="0" anchor="ctr"/>
          <a:lstStyle/>
          <a:p>
            <a:pPr marL="0" indent="0">
              <a:buNone/>
            </a:pPr>
            <a:r>
              <a:rPr lang="en-US" sz="1100" b="1" kern="0" spc="50" dirty="0">
                <a:solidFill>
                  <a:srgbClr val="1B3A5C"/>
                </a:solidFill>
                <a:latin typeface="Calibri" pitchFamily="34" charset="0"/>
                <a:ea typeface="Calibri" pitchFamily="34" charset="-122"/>
                <a:cs typeface="Calibri" pitchFamily="34" charset="-120"/>
              </a:rPr>
              <a:t>PERSISTENT SADNESS / HOPELESSNESS, 2023</a:t>
            </a:r>
            <a:endParaRPr lang="en-US" sz="1100" dirty="0"/>
          </a:p>
        </p:txBody>
      </p:sp>
      <p:sp>
        <p:nvSpPr>
          <p:cNvPr id="7" name="Text 5"/>
          <p:cNvSpPr/>
          <p:nvPr/>
        </p:nvSpPr>
        <p:spPr>
          <a:xfrm>
            <a:off x="777240" y="4114800"/>
            <a:ext cx="4572000" cy="1737360"/>
          </a:xfrm>
          <a:prstGeom prst="rect">
            <a:avLst/>
          </a:prstGeom>
          <a:noFill/>
          <a:ln/>
        </p:spPr>
        <p:txBody>
          <a:bodyPr wrap="square" rtlCol="0" anchor="ctr"/>
          <a:lstStyle/>
          <a:p>
            <a:pPr marL="0" indent="0">
              <a:lnSpc>
                <a:spcPts val="1800"/>
              </a:lnSpc>
              <a:buNone/>
            </a:pPr>
            <a:r>
              <a:rPr lang="en-US" sz="1250" dirty="0">
                <a:solidFill>
                  <a:srgbClr val="1B3A5C"/>
                </a:solidFill>
                <a:latin typeface="Calibri" pitchFamily="34" charset="0"/>
                <a:ea typeface="Calibri" pitchFamily="34" charset="-122"/>
                <a:cs typeface="Calibri" pitchFamily="34" charset="-120"/>
              </a:rPr>
              <a:t>Transgender students report this outcome at more than two and a half times the county rate. Hispanic and Latino students sit nearly six points above their White peers. Both facts are invisible in a single average.</a:t>
            </a:r>
            <a:endParaRPr lang="en-US" sz="1250" dirty="0"/>
          </a:p>
        </p:txBody>
      </p:sp>
      <p:graphicFrame>
        <p:nvGraphicFramePr>
          <p:cNvPr id="8" name="Chart 0"/>
          <p:cNvGraphicFramePr/>
          <p:nvPr/>
        </p:nvGraphicFramePr>
        <p:xfrm>
          <a:off x="5989320" y="1463040"/>
          <a:ext cx="5669280" cy="452628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p:nvPr/>
        </p:nvSpPr>
        <p:spPr>
          <a:xfrm>
            <a:off x="457200" y="6537960"/>
            <a:ext cx="8686800"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Source: 2023 HKCS High School Region 2 Report, Table 35 (n = 5,034), verified with 95% confidence intervals</a:t>
            </a:r>
            <a:endParaRPr lang="en-US" sz="900" dirty="0"/>
          </a:p>
        </p:txBody>
      </p:sp>
      <p:sp>
        <p:nvSpPr>
          <p:cNvPr id="10" name="Text 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marL="0" indent="0">
              <a:buNone/>
            </a:pPr>
            <a:r>
              <a:rPr lang="en-US" sz="1250" b="1" kern="0" spc="150" dirty="0">
                <a:solidFill>
                  <a:srgbClr val="2066A8"/>
                </a:solidFill>
                <a:latin typeface="Calibri" pitchFamily="34" charset="0"/>
                <a:ea typeface="Calibri" pitchFamily="34" charset="-122"/>
                <a:cs typeface="Calibri" pitchFamily="34" charset="-120"/>
              </a:rPr>
              <a:t>THE CROSSWALK</a:t>
            </a:r>
            <a:endParaRPr lang="en-US" sz="1250" dirty="0"/>
          </a:p>
        </p:txBody>
      </p:sp>
      <p:sp>
        <p:nvSpPr>
          <p:cNvPr id="3" name="Text 1"/>
          <p:cNvSpPr/>
          <p:nvPr/>
        </p:nvSpPr>
        <p:spPr>
          <a:xfrm>
            <a:off x="502920" y="685800"/>
            <a:ext cx="11155680" cy="777240"/>
          </a:xfrm>
          <a:prstGeom prst="rect">
            <a:avLst/>
          </a:prstGeom>
          <a:noFill/>
          <a:ln/>
        </p:spPr>
        <p:txBody>
          <a:bodyPr wrap="square" rtlCol="0" anchor="ctr"/>
          <a:lstStyle/>
          <a:p>
            <a:pPr marL="0" indent="0">
              <a:buNone/>
            </a:pPr>
            <a:r>
              <a:rPr lang="en-US" sz="2900" b="1" dirty="0">
                <a:solidFill>
                  <a:srgbClr val="1B3A5C"/>
                </a:solidFill>
                <a:latin typeface="Cambria" pitchFamily="34" charset="0"/>
                <a:ea typeface="Cambria" pitchFamily="34" charset="-122"/>
                <a:cs typeface="Cambria" pitchFamily="34" charset="-120"/>
              </a:rPr>
              <a:t>Where the districts already align, and where they don’t</a:t>
            </a:r>
            <a:endParaRPr lang="en-US" sz="2900" dirty="0"/>
          </a:p>
        </p:txBody>
      </p:sp>
      <p:sp>
        <p:nvSpPr>
          <p:cNvPr id="4" name="Shape 2"/>
          <p:cNvSpPr/>
          <p:nvPr/>
        </p:nvSpPr>
        <p:spPr>
          <a:xfrm>
            <a:off x="502920" y="1508760"/>
            <a:ext cx="5486400" cy="4526280"/>
          </a:xfrm>
          <a:prstGeom prst="roundRect">
            <a:avLst>
              <a:gd name="adj" fmla="val 1616"/>
            </a:avLst>
          </a:prstGeom>
          <a:solidFill>
            <a:srgbClr val="E8EEF4"/>
          </a:solidFill>
          <a:ln/>
        </p:spPr>
        <p:txBody>
          <a:bodyPr/>
          <a:lstStyle/>
          <a:p>
            <a:endParaRPr lang="en-US"/>
          </a:p>
        </p:txBody>
      </p:sp>
      <p:sp>
        <p:nvSpPr>
          <p:cNvPr id="5" name="Text 3"/>
          <p:cNvSpPr/>
          <p:nvPr/>
        </p:nvSpPr>
        <p:spPr>
          <a:xfrm>
            <a:off x="822960" y="1737360"/>
            <a:ext cx="4937760" cy="365760"/>
          </a:xfrm>
          <a:prstGeom prst="rect">
            <a:avLst/>
          </a:prstGeom>
          <a:noFill/>
          <a:ln/>
        </p:spPr>
        <p:txBody>
          <a:bodyPr wrap="square" rtlCol="0" anchor="ctr"/>
          <a:lstStyle/>
          <a:p>
            <a:pPr marL="0" indent="0">
              <a:buNone/>
            </a:pPr>
            <a:r>
              <a:rPr lang="en-US" sz="1250" b="1" kern="0" spc="100" dirty="0">
                <a:solidFill>
                  <a:srgbClr val="1B3A5C"/>
                </a:solidFill>
                <a:latin typeface="Calibri" pitchFamily="34" charset="0"/>
                <a:ea typeface="Calibri" pitchFamily="34" charset="-122"/>
                <a:cs typeface="Calibri" pitchFamily="34" charset="-120"/>
              </a:rPr>
              <a:t>ALREADY MEASURED SOMEWHERE</a:t>
            </a:r>
            <a:endParaRPr lang="en-US" sz="1250" dirty="0"/>
          </a:p>
        </p:txBody>
      </p:sp>
      <p:sp>
        <p:nvSpPr>
          <p:cNvPr id="6" name="Shape 4"/>
          <p:cNvSpPr/>
          <p:nvPr/>
        </p:nvSpPr>
        <p:spPr>
          <a:xfrm>
            <a:off x="822960" y="2359152"/>
            <a:ext cx="109728" cy="109728"/>
          </a:xfrm>
          <a:prstGeom prst="line">
            <a:avLst/>
          </a:prstGeom>
          <a:solidFill>
            <a:srgbClr val="2066A8"/>
          </a:solidFill>
          <a:ln/>
        </p:spPr>
        <p:txBody>
          <a:bodyPr/>
          <a:lstStyle/>
          <a:p>
            <a:endParaRPr lang="en-US"/>
          </a:p>
        </p:txBody>
      </p:sp>
      <p:sp>
        <p:nvSpPr>
          <p:cNvPr id="7" name="Text 5"/>
          <p:cNvSpPr/>
          <p:nvPr/>
        </p:nvSpPr>
        <p:spPr>
          <a:xfrm>
            <a:off x="1097280" y="2212848"/>
            <a:ext cx="4663440" cy="320040"/>
          </a:xfrm>
          <a:prstGeom prst="rect">
            <a:avLst/>
          </a:prstGeom>
          <a:noFill/>
          <a:ln/>
        </p:spPr>
        <p:txBody>
          <a:bodyPr wrap="square" rtlCol="0" anchor="ctr"/>
          <a:lstStyle/>
          <a:p>
            <a:pPr marL="0" indent="0">
              <a:buNone/>
            </a:pPr>
            <a:r>
              <a:rPr lang="en-US" sz="1300" b="1" dirty="0">
                <a:solidFill>
                  <a:srgbClr val="1B3A5C"/>
                </a:solidFill>
                <a:latin typeface="Calibri" pitchFamily="34" charset="0"/>
                <a:ea typeface="Calibri" pitchFamily="34" charset="-122"/>
                <a:cs typeface="Calibri" pitchFamily="34" charset="-120"/>
              </a:rPr>
              <a:t>Stress manageability   •  W</a:t>
            </a:r>
            <a:endParaRPr lang="en-US" sz="1300" dirty="0"/>
          </a:p>
        </p:txBody>
      </p:sp>
      <p:sp>
        <p:nvSpPr>
          <p:cNvPr id="8" name="Text 6"/>
          <p:cNvSpPr/>
          <p:nvPr/>
        </p:nvSpPr>
        <p:spPr>
          <a:xfrm>
            <a:off x="1097280" y="2542032"/>
            <a:ext cx="4663440" cy="594360"/>
          </a:xfrm>
          <a:prstGeom prst="rect">
            <a:avLst/>
          </a:prstGeom>
          <a:noFill/>
          <a:ln/>
        </p:spPr>
        <p:txBody>
          <a:bodyPr wrap="square" rtlCol="0" anchor="ctr"/>
          <a:lstStyle/>
          <a:p>
            <a:pPr marL="0" indent="0">
              <a:lnSpc>
                <a:spcPts val="1400"/>
              </a:lnSpc>
              <a:buNone/>
            </a:pPr>
            <a:r>
              <a:rPr lang="en-US" sz="1150" dirty="0">
                <a:solidFill>
                  <a:srgbClr val="5A6B7A"/>
                </a:solidFill>
                <a:latin typeface="Calibri" pitchFamily="34" charset="0"/>
                <a:ea typeface="Calibri" pitchFamily="34" charset="-122"/>
                <a:cs typeface="Calibri" pitchFamily="34" charset="-120"/>
              </a:rPr>
              <a:t>HKCS and PSD use identical wording; only the response scale differs (5-pt vs. binary).</a:t>
            </a:r>
            <a:endParaRPr lang="en-US" sz="1150" dirty="0"/>
          </a:p>
        </p:txBody>
      </p:sp>
      <p:sp>
        <p:nvSpPr>
          <p:cNvPr id="9" name="Shape 7"/>
          <p:cNvSpPr/>
          <p:nvPr/>
        </p:nvSpPr>
        <p:spPr>
          <a:xfrm>
            <a:off x="822960" y="3410712"/>
            <a:ext cx="109728" cy="109728"/>
          </a:xfrm>
          <a:prstGeom prst="line">
            <a:avLst/>
          </a:prstGeom>
          <a:solidFill>
            <a:srgbClr val="2066A8"/>
          </a:solidFill>
          <a:ln/>
        </p:spPr>
        <p:txBody>
          <a:bodyPr/>
          <a:lstStyle/>
          <a:p>
            <a:endParaRPr lang="en-US"/>
          </a:p>
        </p:txBody>
      </p:sp>
      <p:sp>
        <p:nvSpPr>
          <p:cNvPr id="10" name="Text 8"/>
          <p:cNvSpPr/>
          <p:nvPr/>
        </p:nvSpPr>
        <p:spPr>
          <a:xfrm>
            <a:off x="1097280" y="3264408"/>
            <a:ext cx="4663440" cy="320040"/>
          </a:xfrm>
          <a:prstGeom prst="rect">
            <a:avLst/>
          </a:prstGeom>
          <a:noFill/>
          <a:ln/>
        </p:spPr>
        <p:txBody>
          <a:bodyPr wrap="square" rtlCol="0" anchor="ctr"/>
          <a:lstStyle/>
          <a:p>
            <a:pPr marL="0" indent="0">
              <a:buNone/>
            </a:pPr>
            <a:r>
              <a:rPr lang="en-US" sz="1300" b="1" dirty="0">
                <a:solidFill>
                  <a:srgbClr val="1B3A5C"/>
                </a:solidFill>
                <a:latin typeface="Calibri" pitchFamily="34" charset="0"/>
                <a:ea typeface="Calibri" pitchFamily="34" charset="-122"/>
                <a:cs typeface="Calibri" pitchFamily="34" charset="-120"/>
              </a:rPr>
              <a:t>Trusted adult   •  C / TSD gap</a:t>
            </a:r>
            <a:endParaRPr lang="en-US" sz="1300" dirty="0"/>
          </a:p>
        </p:txBody>
      </p:sp>
      <p:sp>
        <p:nvSpPr>
          <p:cNvPr id="11" name="Text 9"/>
          <p:cNvSpPr/>
          <p:nvPr/>
        </p:nvSpPr>
        <p:spPr>
          <a:xfrm>
            <a:off x="1097280" y="3593592"/>
            <a:ext cx="4663440" cy="594360"/>
          </a:xfrm>
          <a:prstGeom prst="rect">
            <a:avLst/>
          </a:prstGeom>
          <a:noFill/>
          <a:ln/>
        </p:spPr>
        <p:txBody>
          <a:bodyPr wrap="square" rtlCol="0" anchor="ctr"/>
          <a:lstStyle/>
          <a:p>
            <a:pPr marL="0" indent="0">
              <a:lnSpc>
                <a:spcPts val="1400"/>
              </a:lnSpc>
              <a:buNone/>
            </a:pPr>
            <a:r>
              <a:rPr lang="en-US" sz="1150" dirty="0">
                <a:solidFill>
                  <a:srgbClr val="5A6B7A"/>
                </a:solidFill>
                <a:latin typeface="Calibri" pitchFamily="34" charset="0"/>
                <a:ea typeface="Calibri" pitchFamily="34" charset="-122"/>
                <a:cs typeface="Calibri" pitchFamily="34" charset="-120"/>
              </a:rPr>
              <a:t>Measured by HKCS and PSD in different scope and framing; TSD has no direct item.</a:t>
            </a:r>
            <a:endParaRPr lang="en-US" sz="1150" dirty="0"/>
          </a:p>
        </p:txBody>
      </p:sp>
      <p:sp>
        <p:nvSpPr>
          <p:cNvPr id="12" name="Shape 10"/>
          <p:cNvSpPr/>
          <p:nvPr/>
        </p:nvSpPr>
        <p:spPr>
          <a:xfrm>
            <a:off x="822960" y="4462272"/>
            <a:ext cx="109728" cy="109728"/>
          </a:xfrm>
          <a:prstGeom prst="line">
            <a:avLst/>
          </a:prstGeom>
          <a:solidFill>
            <a:srgbClr val="2066A8"/>
          </a:solidFill>
          <a:ln/>
        </p:spPr>
        <p:txBody>
          <a:bodyPr/>
          <a:lstStyle/>
          <a:p>
            <a:endParaRPr lang="en-US"/>
          </a:p>
        </p:txBody>
      </p:sp>
      <p:sp>
        <p:nvSpPr>
          <p:cNvPr id="13" name="Text 11"/>
          <p:cNvSpPr/>
          <p:nvPr/>
        </p:nvSpPr>
        <p:spPr>
          <a:xfrm>
            <a:off x="1097280" y="4315968"/>
            <a:ext cx="4663440" cy="320040"/>
          </a:xfrm>
          <a:prstGeom prst="rect">
            <a:avLst/>
          </a:prstGeom>
          <a:noFill/>
          <a:ln/>
        </p:spPr>
        <p:txBody>
          <a:bodyPr wrap="square" rtlCol="0" anchor="ctr"/>
          <a:lstStyle/>
          <a:p>
            <a:pPr marL="0" indent="0">
              <a:buNone/>
            </a:pPr>
            <a:r>
              <a:rPr lang="en-US" sz="1300" b="1" dirty="0">
                <a:solidFill>
                  <a:srgbClr val="1B3A5C"/>
                </a:solidFill>
                <a:latin typeface="Calibri" pitchFamily="34" charset="0"/>
                <a:ea typeface="Calibri" pitchFamily="34" charset="-122"/>
                <a:cs typeface="Calibri" pitchFamily="34" charset="-120"/>
              </a:rPr>
              <a:t>Belonging &amp; safety   •  W</a:t>
            </a:r>
            <a:endParaRPr lang="en-US" sz="1300" dirty="0"/>
          </a:p>
        </p:txBody>
      </p:sp>
      <p:sp>
        <p:nvSpPr>
          <p:cNvPr id="14" name="Text 12"/>
          <p:cNvSpPr/>
          <p:nvPr/>
        </p:nvSpPr>
        <p:spPr>
          <a:xfrm>
            <a:off x="1097280" y="4645152"/>
            <a:ext cx="4663440" cy="594360"/>
          </a:xfrm>
          <a:prstGeom prst="rect">
            <a:avLst/>
          </a:prstGeom>
          <a:noFill/>
          <a:ln/>
        </p:spPr>
        <p:txBody>
          <a:bodyPr wrap="square" rtlCol="0" anchor="ctr"/>
          <a:lstStyle/>
          <a:p>
            <a:pPr marL="0" indent="0">
              <a:lnSpc>
                <a:spcPts val="1400"/>
              </a:lnSpc>
              <a:buNone/>
            </a:pPr>
            <a:r>
              <a:rPr lang="en-US" sz="1150" dirty="0">
                <a:solidFill>
                  <a:srgbClr val="5A6B7A"/>
                </a:solidFill>
                <a:latin typeface="Calibri" pitchFamily="34" charset="0"/>
                <a:ea typeface="Calibri" pitchFamily="34" charset="-122"/>
                <a:cs typeface="Calibri" pitchFamily="34" charset="-120"/>
              </a:rPr>
              <a:t>All instruments touch this construct across three different response scales.</a:t>
            </a:r>
            <a:endParaRPr lang="en-US" sz="1150" dirty="0"/>
          </a:p>
        </p:txBody>
      </p:sp>
      <p:sp>
        <p:nvSpPr>
          <p:cNvPr id="15" name="Text 13"/>
          <p:cNvSpPr/>
          <p:nvPr/>
        </p:nvSpPr>
        <p:spPr>
          <a:xfrm>
            <a:off x="822960" y="5532120"/>
            <a:ext cx="4937760" cy="411480"/>
          </a:xfrm>
          <a:prstGeom prst="rect">
            <a:avLst/>
          </a:prstGeom>
          <a:noFill/>
          <a:ln/>
        </p:spPr>
        <p:txBody>
          <a:bodyPr wrap="square" rtlCol="0" anchor="ctr"/>
          <a:lstStyle/>
          <a:p>
            <a:pPr marL="0" indent="0">
              <a:lnSpc>
                <a:spcPts val="1200"/>
              </a:lnSpc>
              <a:buNone/>
            </a:pPr>
            <a:r>
              <a:rPr lang="en-US" sz="950" i="1" dirty="0">
                <a:solidFill>
                  <a:srgbClr val="5A6B7A"/>
                </a:solidFill>
                <a:latin typeface="Calibri" pitchFamily="34" charset="0"/>
                <a:ea typeface="Calibri" pitchFamily="34" charset="-122"/>
                <a:cs typeface="Calibri" pitchFamily="34" charset="-120"/>
              </a:rPr>
              <a:t>Alignment codes: V = wording + scale match  ·  W = wording match, scale differs  ·  C = construct match only</a:t>
            </a:r>
            <a:endParaRPr lang="en-US" sz="950" dirty="0"/>
          </a:p>
        </p:txBody>
      </p:sp>
      <p:sp>
        <p:nvSpPr>
          <p:cNvPr id="16" name="Shape 14"/>
          <p:cNvSpPr/>
          <p:nvPr/>
        </p:nvSpPr>
        <p:spPr>
          <a:xfrm>
            <a:off x="6172200" y="1508760"/>
            <a:ext cx="5486400" cy="4526280"/>
          </a:xfrm>
          <a:prstGeom prst="roundRect">
            <a:avLst>
              <a:gd name="adj" fmla="val 1616"/>
            </a:avLst>
          </a:prstGeom>
          <a:solidFill>
            <a:srgbClr val="FBEAEA"/>
          </a:solidFill>
          <a:ln/>
        </p:spPr>
        <p:txBody>
          <a:bodyPr/>
          <a:lstStyle/>
          <a:p>
            <a:endParaRPr lang="en-US"/>
          </a:p>
        </p:txBody>
      </p:sp>
      <p:sp>
        <p:nvSpPr>
          <p:cNvPr id="17" name="Text 15"/>
          <p:cNvSpPr/>
          <p:nvPr/>
        </p:nvSpPr>
        <p:spPr>
          <a:xfrm>
            <a:off x="6492240" y="1737360"/>
            <a:ext cx="4937760" cy="365760"/>
          </a:xfrm>
          <a:prstGeom prst="rect">
            <a:avLst/>
          </a:prstGeom>
          <a:noFill/>
          <a:ln/>
        </p:spPr>
        <p:txBody>
          <a:bodyPr wrap="square" rtlCol="0" anchor="ctr"/>
          <a:lstStyle/>
          <a:p>
            <a:pPr marL="0" indent="0">
              <a:buNone/>
            </a:pPr>
            <a:r>
              <a:rPr lang="en-US" sz="1250" b="1" kern="0" spc="100" dirty="0">
                <a:solidFill>
                  <a:srgbClr val="B23A48"/>
                </a:solidFill>
                <a:latin typeface="Calibri" pitchFamily="34" charset="0"/>
                <a:ea typeface="Calibri" pitchFamily="34" charset="-122"/>
                <a:cs typeface="Calibri" pitchFamily="34" charset="-120"/>
              </a:rPr>
              <a:t>MEASURED NOWHERE IN DISTRICT DATA</a:t>
            </a:r>
            <a:endParaRPr lang="en-US" sz="1250" dirty="0"/>
          </a:p>
        </p:txBody>
      </p:sp>
      <p:sp>
        <p:nvSpPr>
          <p:cNvPr id="18" name="Shape 16"/>
          <p:cNvSpPr/>
          <p:nvPr/>
        </p:nvSpPr>
        <p:spPr>
          <a:xfrm>
            <a:off x="6492240" y="2359152"/>
            <a:ext cx="109728" cy="109728"/>
          </a:xfrm>
          <a:prstGeom prst="line">
            <a:avLst/>
          </a:prstGeom>
          <a:solidFill>
            <a:srgbClr val="B23A48"/>
          </a:solidFill>
          <a:ln/>
        </p:spPr>
        <p:txBody>
          <a:bodyPr/>
          <a:lstStyle/>
          <a:p>
            <a:endParaRPr lang="en-US"/>
          </a:p>
        </p:txBody>
      </p:sp>
      <p:sp>
        <p:nvSpPr>
          <p:cNvPr id="19" name="Text 17"/>
          <p:cNvSpPr/>
          <p:nvPr/>
        </p:nvSpPr>
        <p:spPr>
          <a:xfrm>
            <a:off x="6766560" y="2212848"/>
            <a:ext cx="4754880" cy="320040"/>
          </a:xfrm>
          <a:prstGeom prst="rect">
            <a:avLst/>
          </a:prstGeom>
          <a:noFill/>
          <a:ln/>
        </p:spPr>
        <p:txBody>
          <a:bodyPr wrap="square" rtlCol="0" anchor="ctr"/>
          <a:lstStyle/>
          <a:p>
            <a:pPr marL="0" indent="0">
              <a:buNone/>
            </a:pPr>
            <a:r>
              <a:rPr lang="en-US" sz="1300" b="1" dirty="0">
                <a:solidFill>
                  <a:srgbClr val="1B3A5C"/>
                </a:solidFill>
                <a:latin typeface="Calibri" pitchFamily="34" charset="0"/>
                <a:ea typeface="Calibri" pitchFamily="34" charset="-122"/>
                <a:cs typeface="Calibri" pitchFamily="34" charset="-120"/>
              </a:rPr>
              <a:t>Persistent sadness &amp; hopelessness</a:t>
            </a:r>
            <a:endParaRPr lang="en-US" sz="1300" dirty="0"/>
          </a:p>
        </p:txBody>
      </p:sp>
      <p:sp>
        <p:nvSpPr>
          <p:cNvPr id="20" name="Text 18"/>
          <p:cNvSpPr/>
          <p:nvPr/>
        </p:nvSpPr>
        <p:spPr>
          <a:xfrm>
            <a:off x="6766560" y="2542032"/>
            <a:ext cx="4754880" cy="502920"/>
          </a:xfrm>
          <a:prstGeom prst="rect">
            <a:avLst/>
          </a:prstGeom>
          <a:noFill/>
          <a:ln/>
        </p:spPr>
        <p:txBody>
          <a:bodyPr wrap="square" rtlCol="0" anchor="ctr"/>
          <a:lstStyle/>
          <a:p>
            <a:pPr marL="0" indent="0">
              <a:lnSpc>
                <a:spcPts val="1400"/>
              </a:lnSpc>
              <a:buNone/>
            </a:pPr>
            <a:r>
              <a:rPr lang="en-US" sz="1150" dirty="0">
                <a:solidFill>
                  <a:srgbClr val="5A6B7A"/>
                </a:solidFill>
                <a:latin typeface="Calibri" pitchFamily="34" charset="0"/>
                <a:ea typeface="Calibri" pitchFamily="34" charset="-122"/>
                <a:cs typeface="Calibri" pitchFamily="34" charset="-120"/>
              </a:rPr>
              <a:t>25.2% overall; 66.4% among transgender students.</a:t>
            </a:r>
            <a:endParaRPr lang="en-US" sz="1150" dirty="0"/>
          </a:p>
        </p:txBody>
      </p:sp>
      <p:sp>
        <p:nvSpPr>
          <p:cNvPr id="21" name="Shape 19"/>
          <p:cNvSpPr/>
          <p:nvPr/>
        </p:nvSpPr>
        <p:spPr>
          <a:xfrm>
            <a:off x="6492240" y="3255264"/>
            <a:ext cx="109728" cy="109728"/>
          </a:xfrm>
          <a:prstGeom prst="line">
            <a:avLst/>
          </a:prstGeom>
          <a:solidFill>
            <a:srgbClr val="B23A48"/>
          </a:solidFill>
          <a:ln/>
        </p:spPr>
        <p:txBody>
          <a:bodyPr/>
          <a:lstStyle/>
          <a:p>
            <a:endParaRPr lang="en-US"/>
          </a:p>
        </p:txBody>
      </p:sp>
      <p:sp>
        <p:nvSpPr>
          <p:cNvPr id="22" name="Text 20"/>
          <p:cNvSpPr/>
          <p:nvPr/>
        </p:nvSpPr>
        <p:spPr>
          <a:xfrm>
            <a:off x="6766560" y="3108960"/>
            <a:ext cx="4754880" cy="320040"/>
          </a:xfrm>
          <a:prstGeom prst="rect">
            <a:avLst/>
          </a:prstGeom>
          <a:noFill/>
          <a:ln/>
        </p:spPr>
        <p:txBody>
          <a:bodyPr wrap="square" rtlCol="0" anchor="ctr"/>
          <a:lstStyle/>
          <a:p>
            <a:pPr marL="0" indent="0">
              <a:buNone/>
            </a:pPr>
            <a:r>
              <a:rPr lang="en-US" sz="1300" b="1" dirty="0">
                <a:solidFill>
                  <a:srgbClr val="1B3A5C"/>
                </a:solidFill>
                <a:latin typeface="Calibri" pitchFamily="34" charset="0"/>
                <a:ea typeface="Calibri" pitchFamily="34" charset="-122"/>
                <a:cs typeface="Calibri" pitchFamily="34" charset="-120"/>
              </a:rPr>
              <a:t>Suicidal ideation, planning, attempts</a:t>
            </a:r>
            <a:endParaRPr lang="en-US" sz="1300" dirty="0"/>
          </a:p>
        </p:txBody>
      </p:sp>
      <p:sp>
        <p:nvSpPr>
          <p:cNvPr id="23" name="Text 21"/>
          <p:cNvSpPr/>
          <p:nvPr/>
        </p:nvSpPr>
        <p:spPr>
          <a:xfrm>
            <a:off x="6766560" y="3438144"/>
            <a:ext cx="4754880" cy="502920"/>
          </a:xfrm>
          <a:prstGeom prst="rect">
            <a:avLst/>
          </a:prstGeom>
          <a:noFill/>
          <a:ln/>
        </p:spPr>
        <p:txBody>
          <a:bodyPr wrap="square" rtlCol="0" anchor="ctr"/>
          <a:lstStyle/>
          <a:p>
            <a:pPr marL="0" indent="0">
              <a:lnSpc>
                <a:spcPts val="1400"/>
              </a:lnSpc>
              <a:buNone/>
            </a:pPr>
            <a:r>
              <a:rPr lang="en-US" sz="1150" dirty="0">
                <a:solidFill>
                  <a:srgbClr val="5A6B7A"/>
                </a:solidFill>
                <a:latin typeface="Calibri" pitchFamily="34" charset="0"/>
                <a:ea typeface="Calibri" pitchFamily="34" charset="-122"/>
                <a:cs typeface="Calibri" pitchFamily="34" charset="-120"/>
              </a:rPr>
              <a:t>11.9% considered; 9.9% planned; 5.4% attempted.</a:t>
            </a:r>
            <a:endParaRPr lang="en-US" sz="1150" dirty="0"/>
          </a:p>
        </p:txBody>
      </p:sp>
      <p:sp>
        <p:nvSpPr>
          <p:cNvPr id="24" name="Shape 22"/>
          <p:cNvSpPr/>
          <p:nvPr/>
        </p:nvSpPr>
        <p:spPr>
          <a:xfrm>
            <a:off x="6492240" y="4151376"/>
            <a:ext cx="109728" cy="109728"/>
          </a:xfrm>
          <a:prstGeom prst="line">
            <a:avLst/>
          </a:prstGeom>
          <a:solidFill>
            <a:srgbClr val="B23A48"/>
          </a:solidFill>
          <a:ln/>
        </p:spPr>
        <p:txBody>
          <a:bodyPr/>
          <a:lstStyle/>
          <a:p>
            <a:endParaRPr lang="en-US"/>
          </a:p>
        </p:txBody>
      </p:sp>
      <p:sp>
        <p:nvSpPr>
          <p:cNvPr id="25" name="Text 23"/>
          <p:cNvSpPr/>
          <p:nvPr/>
        </p:nvSpPr>
        <p:spPr>
          <a:xfrm>
            <a:off x="6766560" y="4005072"/>
            <a:ext cx="4754880" cy="320040"/>
          </a:xfrm>
          <a:prstGeom prst="rect">
            <a:avLst/>
          </a:prstGeom>
          <a:noFill/>
          <a:ln/>
        </p:spPr>
        <p:txBody>
          <a:bodyPr wrap="square" rtlCol="0" anchor="ctr"/>
          <a:lstStyle/>
          <a:p>
            <a:pPr marL="0" indent="0">
              <a:buNone/>
            </a:pPr>
            <a:r>
              <a:rPr lang="en-US" sz="1300" b="1" dirty="0">
                <a:solidFill>
                  <a:srgbClr val="1B3A5C"/>
                </a:solidFill>
                <a:latin typeface="Calibri" pitchFamily="34" charset="0"/>
                <a:ea typeface="Calibri" pitchFamily="34" charset="-122"/>
                <a:cs typeface="Calibri" pitchFamily="34" charset="-120"/>
              </a:rPr>
              <a:t>Deliberate self-harm</a:t>
            </a:r>
            <a:endParaRPr lang="en-US" sz="1300" dirty="0"/>
          </a:p>
        </p:txBody>
      </p:sp>
      <p:sp>
        <p:nvSpPr>
          <p:cNvPr id="26" name="Text 24"/>
          <p:cNvSpPr/>
          <p:nvPr/>
        </p:nvSpPr>
        <p:spPr>
          <a:xfrm>
            <a:off x="6766560" y="4334256"/>
            <a:ext cx="4754880" cy="502920"/>
          </a:xfrm>
          <a:prstGeom prst="rect">
            <a:avLst/>
          </a:prstGeom>
          <a:noFill/>
          <a:ln/>
        </p:spPr>
        <p:txBody>
          <a:bodyPr wrap="square" rtlCol="0" anchor="ctr"/>
          <a:lstStyle/>
          <a:p>
            <a:pPr marL="0" indent="0">
              <a:lnSpc>
                <a:spcPts val="1400"/>
              </a:lnSpc>
              <a:buNone/>
            </a:pPr>
            <a:r>
              <a:rPr lang="en-US" sz="1150" dirty="0">
                <a:solidFill>
                  <a:srgbClr val="5A6B7A"/>
                </a:solidFill>
                <a:latin typeface="Calibri" pitchFamily="34" charset="0"/>
                <a:ea typeface="Calibri" pitchFamily="34" charset="-122"/>
                <a:cs typeface="Calibri" pitchFamily="34" charset="-120"/>
              </a:rPr>
              <a:t>15.1% overall; 53.2% among transgender students.</a:t>
            </a:r>
            <a:endParaRPr lang="en-US" sz="1150" dirty="0"/>
          </a:p>
        </p:txBody>
      </p:sp>
      <p:sp>
        <p:nvSpPr>
          <p:cNvPr id="27" name="Shape 25"/>
          <p:cNvSpPr/>
          <p:nvPr/>
        </p:nvSpPr>
        <p:spPr>
          <a:xfrm>
            <a:off x="6492240" y="5047488"/>
            <a:ext cx="109728" cy="109728"/>
          </a:xfrm>
          <a:prstGeom prst="line">
            <a:avLst/>
          </a:prstGeom>
          <a:solidFill>
            <a:srgbClr val="B23A48"/>
          </a:solidFill>
          <a:ln/>
        </p:spPr>
        <p:txBody>
          <a:bodyPr/>
          <a:lstStyle/>
          <a:p>
            <a:endParaRPr lang="en-US"/>
          </a:p>
        </p:txBody>
      </p:sp>
      <p:sp>
        <p:nvSpPr>
          <p:cNvPr id="28" name="Text 26"/>
          <p:cNvSpPr/>
          <p:nvPr/>
        </p:nvSpPr>
        <p:spPr>
          <a:xfrm>
            <a:off x="6766560" y="4901184"/>
            <a:ext cx="4754880" cy="320040"/>
          </a:xfrm>
          <a:prstGeom prst="rect">
            <a:avLst/>
          </a:prstGeom>
          <a:noFill/>
          <a:ln/>
        </p:spPr>
        <p:txBody>
          <a:bodyPr wrap="square" rtlCol="0" anchor="ctr"/>
          <a:lstStyle/>
          <a:p>
            <a:pPr marL="0" indent="0">
              <a:buNone/>
            </a:pPr>
            <a:r>
              <a:rPr lang="en-US" sz="1300" b="1" dirty="0">
                <a:solidFill>
                  <a:srgbClr val="1B3A5C"/>
                </a:solidFill>
                <a:latin typeface="Calibri" pitchFamily="34" charset="0"/>
                <a:ea typeface="Calibri" pitchFamily="34" charset="-122"/>
                <a:cs typeface="Calibri" pitchFamily="34" charset="-120"/>
              </a:rPr>
              <a:t>Experiences of racism</a:t>
            </a:r>
            <a:endParaRPr lang="en-US" sz="1300" dirty="0"/>
          </a:p>
        </p:txBody>
      </p:sp>
      <p:sp>
        <p:nvSpPr>
          <p:cNvPr id="29" name="Text 27"/>
          <p:cNvSpPr/>
          <p:nvPr/>
        </p:nvSpPr>
        <p:spPr>
          <a:xfrm>
            <a:off x="6766560" y="5230368"/>
            <a:ext cx="4754880" cy="502920"/>
          </a:xfrm>
          <a:prstGeom prst="rect">
            <a:avLst/>
          </a:prstGeom>
          <a:noFill/>
          <a:ln/>
        </p:spPr>
        <p:txBody>
          <a:bodyPr wrap="square" rtlCol="0" anchor="ctr"/>
          <a:lstStyle/>
          <a:p>
            <a:pPr marL="0" indent="0">
              <a:lnSpc>
                <a:spcPts val="1400"/>
              </a:lnSpc>
              <a:buNone/>
            </a:pPr>
            <a:r>
              <a:rPr lang="en-US" sz="1150" dirty="0">
                <a:solidFill>
                  <a:srgbClr val="5A6B7A"/>
                </a:solidFill>
                <a:latin typeface="Calibri" pitchFamily="34" charset="0"/>
                <a:ea typeface="Calibri" pitchFamily="34" charset="-122"/>
                <a:cs typeface="Calibri" pitchFamily="34" charset="-120"/>
              </a:rPr>
              <a:t>The only item in the entire ecosystem that asks directly.</a:t>
            </a:r>
            <a:endParaRPr lang="en-US" sz="1150" dirty="0"/>
          </a:p>
        </p:txBody>
      </p:sp>
      <p:sp>
        <p:nvSpPr>
          <p:cNvPr id="30" name="Text 28"/>
          <p:cNvSpPr/>
          <p:nvPr/>
        </p:nvSpPr>
        <p:spPr>
          <a:xfrm>
            <a:off x="457200" y="6537960"/>
            <a:ext cx="8686800"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Source: Survey Crosswalk Workbook (D3), Sheets 3–5; Environmental Scan (D2)</a:t>
            </a:r>
            <a:endParaRPr lang="en-US" sz="900" dirty="0"/>
          </a:p>
        </p:txBody>
      </p:sp>
      <p:sp>
        <p:nvSpPr>
          <p:cNvPr id="31" name="Text 29"/>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marL="0" indent="0">
              <a:buNone/>
            </a:pPr>
            <a:r>
              <a:rPr lang="en-US" sz="1250" b="1" kern="0" spc="150" dirty="0">
                <a:solidFill>
                  <a:srgbClr val="2066A8"/>
                </a:solidFill>
                <a:latin typeface="Calibri" pitchFamily="34" charset="0"/>
                <a:ea typeface="Calibri" pitchFamily="34" charset="-122"/>
                <a:cs typeface="Calibri" pitchFamily="34" charset="-120"/>
              </a:rPr>
              <a:t>LOCAL CONTEXT</a:t>
            </a:r>
            <a:endParaRPr lang="en-US" sz="1250" dirty="0"/>
          </a:p>
        </p:txBody>
      </p:sp>
      <p:sp>
        <p:nvSpPr>
          <p:cNvPr id="3" name="Text 1"/>
          <p:cNvSpPr/>
          <p:nvPr/>
        </p:nvSpPr>
        <p:spPr>
          <a:xfrm>
            <a:off x="502920" y="685800"/>
            <a:ext cx="11155680" cy="777240"/>
          </a:xfrm>
          <a:prstGeom prst="rect">
            <a:avLst/>
          </a:prstGeom>
          <a:noFill/>
          <a:ln/>
        </p:spPr>
        <p:txBody>
          <a:bodyPr wrap="square" rtlCol="0" anchor="ctr"/>
          <a:lstStyle/>
          <a:p>
            <a:pPr marL="0" indent="0">
              <a:buNone/>
            </a:pPr>
            <a:r>
              <a:rPr lang="en-US" sz="2900" b="1" dirty="0">
                <a:solidFill>
                  <a:srgbClr val="1B3A5C"/>
                </a:solidFill>
                <a:latin typeface="Cambria" pitchFamily="34" charset="0"/>
                <a:ea typeface="Cambria" pitchFamily="34" charset="-122"/>
                <a:cs typeface="Cambria" pitchFamily="34" charset="-120"/>
              </a:rPr>
              <a:t>Three districts, three very different starting points</a:t>
            </a:r>
            <a:endParaRPr lang="en-US" sz="2900" dirty="0"/>
          </a:p>
        </p:txBody>
      </p:sp>
      <p:sp>
        <p:nvSpPr>
          <p:cNvPr id="4" name="Shape 2"/>
          <p:cNvSpPr/>
          <p:nvPr/>
        </p:nvSpPr>
        <p:spPr>
          <a:xfrm>
            <a:off x="502920" y="1600200"/>
            <a:ext cx="3611880" cy="4343400"/>
          </a:xfrm>
          <a:prstGeom prst="roundRect">
            <a:avLst>
              <a:gd name="adj" fmla="val 2025"/>
            </a:avLst>
          </a:prstGeom>
          <a:solidFill>
            <a:srgbClr val="FFFFFF"/>
          </a:solidFill>
          <a:ln w="12700">
            <a:solidFill>
              <a:srgbClr val="D7E0E8"/>
            </a:solidFill>
            <a:prstDash val="solid"/>
          </a:ln>
        </p:spPr>
        <p:txBody>
          <a:bodyPr/>
          <a:lstStyle/>
          <a:p>
            <a:endParaRPr lang="en-US"/>
          </a:p>
        </p:txBody>
      </p:sp>
      <p:sp>
        <p:nvSpPr>
          <p:cNvPr id="5" name="Shape 3"/>
          <p:cNvSpPr/>
          <p:nvPr/>
        </p:nvSpPr>
        <p:spPr>
          <a:xfrm>
            <a:off x="502920" y="1600200"/>
            <a:ext cx="3611880" cy="777240"/>
          </a:xfrm>
          <a:prstGeom prst="roundRect">
            <a:avLst>
              <a:gd name="adj" fmla="val 9412"/>
            </a:avLst>
          </a:prstGeom>
          <a:solidFill>
            <a:srgbClr val="1B3A5C"/>
          </a:solidFill>
          <a:ln/>
        </p:spPr>
        <p:txBody>
          <a:bodyPr/>
          <a:lstStyle/>
          <a:p>
            <a:endParaRPr lang="en-US"/>
          </a:p>
        </p:txBody>
      </p:sp>
      <p:sp>
        <p:nvSpPr>
          <p:cNvPr id="6" name="Shape 4"/>
          <p:cNvSpPr/>
          <p:nvPr/>
        </p:nvSpPr>
        <p:spPr>
          <a:xfrm>
            <a:off x="502920" y="2057400"/>
            <a:ext cx="3611880" cy="320040"/>
          </a:xfrm>
          <a:prstGeom prst="rect">
            <a:avLst/>
          </a:prstGeom>
          <a:solidFill>
            <a:srgbClr val="1B3A5C"/>
          </a:solidFill>
          <a:ln/>
        </p:spPr>
        <p:txBody>
          <a:bodyPr/>
          <a:lstStyle/>
          <a:p>
            <a:endParaRPr lang="en-US"/>
          </a:p>
        </p:txBody>
      </p:sp>
      <p:sp>
        <p:nvSpPr>
          <p:cNvPr id="7" name="Text 5"/>
          <p:cNvSpPr/>
          <p:nvPr/>
        </p:nvSpPr>
        <p:spPr>
          <a:xfrm>
            <a:off x="685800" y="1600200"/>
            <a:ext cx="3246120" cy="77724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Estes Park (EPSD)</a:t>
            </a:r>
            <a:endParaRPr lang="en-US" sz="1600" dirty="0"/>
          </a:p>
        </p:txBody>
      </p:sp>
      <p:sp>
        <p:nvSpPr>
          <p:cNvPr id="8" name="Text 6"/>
          <p:cNvSpPr/>
          <p:nvPr/>
        </p:nvSpPr>
        <p:spPr>
          <a:xfrm>
            <a:off x="731520" y="2606040"/>
            <a:ext cx="1554480" cy="274320"/>
          </a:xfrm>
          <a:prstGeom prst="rect">
            <a:avLst/>
          </a:prstGeom>
          <a:noFill/>
          <a:ln/>
        </p:spPr>
        <p:txBody>
          <a:bodyPr wrap="square" rtlCol="0" anchor="ctr"/>
          <a:lstStyle/>
          <a:p>
            <a:pPr marL="0" indent="0">
              <a:buNone/>
            </a:pPr>
            <a:r>
              <a:rPr lang="en-US" sz="1000" b="1" kern="0" spc="50" dirty="0">
                <a:solidFill>
                  <a:srgbClr val="5A6B7A"/>
                </a:solidFill>
                <a:latin typeface="Calibri" pitchFamily="34" charset="0"/>
                <a:ea typeface="Calibri" pitchFamily="34" charset="-122"/>
                <a:cs typeface="Calibri" pitchFamily="34" charset="-120"/>
              </a:rPr>
              <a:t>ENROLLMENT</a:t>
            </a:r>
            <a:endParaRPr lang="en-US" sz="1000" dirty="0"/>
          </a:p>
        </p:txBody>
      </p:sp>
      <p:sp>
        <p:nvSpPr>
          <p:cNvPr id="9" name="Text 7"/>
          <p:cNvSpPr/>
          <p:nvPr/>
        </p:nvSpPr>
        <p:spPr>
          <a:xfrm>
            <a:off x="731520" y="2834640"/>
            <a:ext cx="1554480" cy="457200"/>
          </a:xfrm>
          <a:prstGeom prst="rect">
            <a:avLst/>
          </a:prstGeom>
          <a:noFill/>
          <a:ln/>
        </p:spPr>
        <p:txBody>
          <a:bodyPr wrap="square" rtlCol="0" anchor="ctr"/>
          <a:lstStyle/>
          <a:p>
            <a:pPr marL="0" indent="0">
              <a:buNone/>
            </a:pPr>
            <a:r>
              <a:rPr lang="en-US" sz="2200" b="1" dirty="0">
                <a:solidFill>
                  <a:srgbClr val="1B3A5C"/>
                </a:solidFill>
                <a:latin typeface="Cambria" pitchFamily="34" charset="0"/>
                <a:ea typeface="Cambria" pitchFamily="34" charset="-122"/>
                <a:cs typeface="Cambria" pitchFamily="34" charset="-120"/>
              </a:rPr>
              <a:t>905</a:t>
            </a:r>
            <a:endParaRPr lang="en-US" sz="2200" dirty="0"/>
          </a:p>
        </p:txBody>
      </p:sp>
      <p:sp>
        <p:nvSpPr>
          <p:cNvPr id="10" name="Text 8"/>
          <p:cNvSpPr/>
          <p:nvPr/>
        </p:nvSpPr>
        <p:spPr>
          <a:xfrm>
            <a:off x="2331720" y="2606040"/>
            <a:ext cx="1645920" cy="274320"/>
          </a:xfrm>
          <a:prstGeom prst="rect">
            <a:avLst/>
          </a:prstGeom>
          <a:noFill/>
          <a:ln/>
        </p:spPr>
        <p:txBody>
          <a:bodyPr wrap="square" rtlCol="0" anchor="ctr"/>
          <a:lstStyle/>
          <a:p>
            <a:pPr marL="0" indent="0">
              <a:buNone/>
            </a:pPr>
            <a:r>
              <a:rPr lang="en-US" sz="1000" b="1" kern="0" spc="50" dirty="0">
                <a:solidFill>
                  <a:srgbClr val="5A6B7A"/>
                </a:solidFill>
                <a:latin typeface="Calibri" pitchFamily="34" charset="0"/>
                <a:ea typeface="Calibri" pitchFamily="34" charset="-122"/>
                <a:cs typeface="Calibri" pitchFamily="34" charset="-120"/>
              </a:rPr>
              <a:t>COUNSELOR RATIO</a:t>
            </a:r>
            <a:endParaRPr lang="en-US" sz="1000" dirty="0"/>
          </a:p>
        </p:txBody>
      </p:sp>
      <p:sp>
        <p:nvSpPr>
          <p:cNvPr id="11" name="Text 9"/>
          <p:cNvSpPr/>
          <p:nvPr/>
        </p:nvSpPr>
        <p:spPr>
          <a:xfrm>
            <a:off x="2331720" y="2834640"/>
            <a:ext cx="1645920" cy="457200"/>
          </a:xfrm>
          <a:prstGeom prst="rect">
            <a:avLst/>
          </a:prstGeom>
          <a:noFill/>
          <a:ln/>
        </p:spPr>
        <p:txBody>
          <a:bodyPr wrap="square" rtlCol="0" anchor="ctr"/>
          <a:lstStyle/>
          <a:p>
            <a:pPr marL="0" indent="0">
              <a:buNone/>
            </a:pPr>
            <a:r>
              <a:rPr lang="en-US" sz="2200" b="1" dirty="0">
                <a:solidFill>
                  <a:srgbClr val="B8860B"/>
                </a:solidFill>
                <a:latin typeface="Cambria" pitchFamily="34" charset="0"/>
                <a:ea typeface="Cambria" pitchFamily="34" charset="-122"/>
                <a:cs typeface="Cambria" pitchFamily="34" charset="-120"/>
              </a:rPr>
              <a:t>253:1</a:t>
            </a:r>
            <a:endParaRPr lang="en-US" sz="2200" dirty="0"/>
          </a:p>
        </p:txBody>
      </p:sp>
      <p:sp>
        <p:nvSpPr>
          <p:cNvPr id="12" name="Shape 10"/>
          <p:cNvSpPr/>
          <p:nvPr/>
        </p:nvSpPr>
        <p:spPr>
          <a:xfrm>
            <a:off x="731520" y="3429000"/>
            <a:ext cx="3154680" cy="0"/>
          </a:xfrm>
          <a:prstGeom prst="line">
            <a:avLst/>
          </a:prstGeom>
          <a:noFill/>
          <a:ln w="12700">
            <a:solidFill>
              <a:srgbClr val="D7E0E8"/>
            </a:solidFill>
            <a:prstDash val="solid"/>
          </a:ln>
        </p:spPr>
        <p:txBody>
          <a:bodyPr/>
          <a:lstStyle/>
          <a:p>
            <a:endParaRPr lang="en-US"/>
          </a:p>
        </p:txBody>
      </p:sp>
      <p:sp>
        <p:nvSpPr>
          <p:cNvPr id="13" name="Text 11"/>
          <p:cNvSpPr/>
          <p:nvPr/>
        </p:nvSpPr>
        <p:spPr>
          <a:xfrm>
            <a:off x="731520" y="3611880"/>
            <a:ext cx="3200400" cy="274320"/>
          </a:xfrm>
          <a:prstGeom prst="rect">
            <a:avLst/>
          </a:prstGeom>
          <a:noFill/>
          <a:ln/>
        </p:spPr>
        <p:txBody>
          <a:bodyPr wrap="square" rtlCol="0" anchor="ctr"/>
          <a:lstStyle/>
          <a:p>
            <a:pPr marL="0" indent="0">
              <a:buNone/>
            </a:pPr>
            <a:r>
              <a:rPr lang="en-US" sz="1000" b="1" kern="0" spc="50" dirty="0">
                <a:solidFill>
                  <a:srgbClr val="5A6B7A"/>
                </a:solidFill>
                <a:latin typeface="Calibri" pitchFamily="34" charset="0"/>
                <a:ea typeface="Calibri" pitchFamily="34" charset="-122"/>
                <a:cs typeface="Calibri" pitchFamily="34" charset="-120"/>
              </a:rPr>
              <a:t>WHAT STANDS OUT</a:t>
            </a:r>
            <a:endParaRPr lang="en-US" sz="1000" dirty="0"/>
          </a:p>
        </p:txBody>
      </p:sp>
      <p:sp>
        <p:nvSpPr>
          <p:cNvPr id="14" name="Text 12"/>
          <p:cNvSpPr/>
          <p:nvPr/>
        </p:nvSpPr>
        <p:spPr>
          <a:xfrm>
            <a:off x="731520" y="3886200"/>
            <a:ext cx="3200400" cy="1920240"/>
          </a:xfrm>
          <a:prstGeom prst="rect">
            <a:avLst/>
          </a:prstGeom>
          <a:noFill/>
          <a:ln/>
        </p:spPr>
        <p:txBody>
          <a:bodyPr wrap="square" rtlCol="0" anchor="ctr"/>
          <a:lstStyle/>
          <a:p>
            <a:pPr marL="0" indent="0">
              <a:lnSpc>
                <a:spcPts val="1600"/>
              </a:lnSpc>
              <a:buNone/>
            </a:pPr>
            <a:r>
              <a:rPr lang="en-US" sz="1200" dirty="0">
                <a:solidFill>
                  <a:srgbClr val="1B3A5C"/>
                </a:solidFill>
                <a:latin typeface="Calibri" pitchFamily="34" charset="0"/>
                <a:ea typeface="Calibri" pitchFamily="34" charset="-122"/>
                <a:cs typeface="Calibri" pitchFamily="34" charset="-120"/>
              </a:rPr>
              <a:t>Multilingual Learner rate 4x the other districts; largely invisible in state accountability data due to small enrollment and cell suppression.</a:t>
            </a:r>
            <a:endParaRPr lang="en-US" sz="1200" dirty="0"/>
          </a:p>
        </p:txBody>
      </p:sp>
      <p:sp>
        <p:nvSpPr>
          <p:cNvPr id="15" name="Shape 13"/>
          <p:cNvSpPr/>
          <p:nvPr/>
        </p:nvSpPr>
        <p:spPr>
          <a:xfrm>
            <a:off x="4389120" y="1600200"/>
            <a:ext cx="3611880" cy="4343400"/>
          </a:xfrm>
          <a:prstGeom prst="roundRect">
            <a:avLst>
              <a:gd name="adj" fmla="val 2025"/>
            </a:avLst>
          </a:prstGeom>
          <a:solidFill>
            <a:srgbClr val="FFFFFF"/>
          </a:solidFill>
          <a:ln w="12700">
            <a:solidFill>
              <a:srgbClr val="D7E0E8"/>
            </a:solidFill>
            <a:prstDash val="solid"/>
          </a:ln>
        </p:spPr>
        <p:txBody>
          <a:bodyPr/>
          <a:lstStyle/>
          <a:p>
            <a:endParaRPr lang="en-US"/>
          </a:p>
        </p:txBody>
      </p:sp>
      <p:sp>
        <p:nvSpPr>
          <p:cNvPr id="16" name="Shape 14"/>
          <p:cNvSpPr/>
          <p:nvPr/>
        </p:nvSpPr>
        <p:spPr>
          <a:xfrm>
            <a:off x="4389120" y="1600200"/>
            <a:ext cx="3611880" cy="777240"/>
          </a:xfrm>
          <a:prstGeom prst="roundRect">
            <a:avLst>
              <a:gd name="adj" fmla="val 9412"/>
            </a:avLst>
          </a:prstGeom>
          <a:solidFill>
            <a:srgbClr val="1B3A5C"/>
          </a:solidFill>
          <a:ln/>
        </p:spPr>
        <p:txBody>
          <a:bodyPr/>
          <a:lstStyle/>
          <a:p>
            <a:endParaRPr lang="en-US"/>
          </a:p>
        </p:txBody>
      </p:sp>
      <p:sp>
        <p:nvSpPr>
          <p:cNvPr id="17" name="Shape 15"/>
          <p:cNvSpPr/>
          <p:nvPr/>
        </p:nvSpPr>
        <p:spPr>
          <a:xfrm>
            <a:off x="4389120" y="2057400"/>
            <a:ext cx="3611880" cy="320040"/>
          </a:xfrm>
          <a:prstGeom prst="rect">
            <a:avLst/>
          </a:prstGeom>
          <a:solidFill>
            <a:srgbClr val="1B3A5C"/>
          </a:solidFill>
          <a:ln/>
        </p:spPr>
        <p:txBody>
          <a:bodyPr/>
          <a:lstStyle/>
          <a:p>
            <a:endParaRPr lang="en-US"/>
          </a:p>
        </p:txBody>
      </p:sp>
      <p:sp>
        <p:nvSpPr>
          <p:cNvPr id="18" name="Text 16"/>
          <p:cNvSpPr/>
          <p:nvPr/>
        </p:nvSpPr>
        <p:spPr>
          <a:xfrm>
            <a:off x="4572000" y="1600200"/>
            <a:ext cx="3246120" cy="77724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Poudre (PSD)</a:t>
            </a:r>
            <a:endParaRPr lang="en-US" sz="1600" dirty="0"/>
          </a:p>
        </p:txBody>
      </p:sp>
      <p:sp>
        <p:nvSpPr>
          <p:cNvPr id="19" name="Text 17"/>
          <p:cNvSpPr/>
          <p:nvPr/>
        </p:nvSpPr>
        <p:spPr>
          <a:xfrm>
            <a:off x="4617720" y="2606040"/>
            <a:ext cx="1554480" cy="274320"/>
          </a:xfrm>
          <a:prstGeom prst="rect">
            <a:avLst/>
          </a:prstGeom>
          <a:noFill/>
          <a:ln/>
        </p:spPr>
        <p:txBody>
          <a:bodyPr wrap="square" rtlCol="0" anchor="ctr"/>
          <a:lstStyle/>
          <a:p>
            <a:pPr marL="0" indent="0">
              <a:buNone/>
            </a:pPr>
            <a:r>
              <a:rPr lang="en-US" sz="1000" b="1" kern="0" spc="50" dirty="0">
                <a:solidFill>
                  <a:srgbClr val="5A6B7A"/>
                </a:solidFill>
                <a:latin typeface="Calibri" pitchFamily="34" charset="0"/>
                <a:ea typeface="Calibri" pitchFamily="34" charset="-122"/>
                <a:cs typeface="Calibri" pitchFamily="34" charset="-120"/>
              </a:rPr>
              <a:t>ENROLLMENT</a:t>
            </a:r>
            <a:endParaRPr lang="en-US" sz="1000" dirty="0"/>
          </a:p>
        </p:txBody>
      </p:sp>
      <p:sp>
        <p:nvSpPr>
          <p:cNvPr id="20" name="Text 18"/>
          <p:cNvSpPr/>
          <p:nvPr/>
        </p:nvSpPr>
        <p:spPr>
          <a:xfrm>
            <a:off x="4617720" y="2834640"/>
            <a:ext cx="1554480" cy="457200"/>
          </a:xfrm>
          <a:prstGeom prst="rect">
            <a:avLst/>
          </a:prstGeom>
          <a:noFill/>
          <a:ln/>
        </p:spPr>
        <p:txBody>
          <a:bodyPr wrap="square" rtlCol="0" anchor="ctr"/>
          <a:lstStyle/>
          <a:p>
            <a:pPr marL="0" indent="0">
              <a:buNone/>
            </a:pPr>
            <a:r>
              <a:rPr lang="en-US" sz="2200" b="1" dirty="0">
                <a:solidFill>
                  <a:srgbClr val="1B3A5C"/>
                </a:solidFill>
                <a:latin typeface="Cambria" pitchFamily="34" charset="0"/>
                <a:ea typeface="Cambria" pitchFamily="34" charset="-122"/>
                <a:cs typeface="Cambria" pitchFamily="34" charset="-120"/>
              </a:rPr>
              <a:t>28,343</a:t>
            </a:r>
            <a:endParaRPr lang="en-US" sz="2200" dirty="0"/>
          </a:p>
        </p:txBody>
      </p:sp>
      <p:sp>
        <p:nvSpPr>
          <p:cNvPr id="21" name="Text 19"/>
          <p:cNvSpPr/>
          <p:nvPr/>
        </p:nvSpPr>
        <p:spPr>
          <a:xfrm>
            <a:off x="6217920" y="2606040"/>
            <a:ext cx="1645920" cy="274320"/>
          </a:xfrm>
          <a:prstGeom prst="rect">
            <a:avLst/>
          </a:prstGeom>
          <a:noFill/>
          <a:ln/>
        </p:spPr>
        <p:txBody>
          <a:bodyPr wrap="square" rtlCol="0" anchor="ctr"/>
          <a:lstStyle/>
          <a:p>
            <a:pPr marL="0" indent="0">
              <a:buNone/>
            </a:pPr>
            <a:r>
              <a:rPr lang="en-US" sz="1000" b="1" kern="0" spc="50" dirty="0">
                <a:solidFill>
                  <a:srgbClr val="5A6B7A"/>
                </a:solidFill>
                <a:latin typeface="Calibri" pitchFamily="34" charset="0"/>
                <a:ea typeface="Calibri" pitchFamily="34" charset="-122"/>
                <a:cs typeface="Calibri" pitchFamily="34" charset="-120"/>
              </a:rPr>
              <a:t>COUNSELOR RATIO</a:t>
            </a:r>
            <a:endParaRPr lang="en-US" sz="1000" dirty="0"/>
          </a:p>
        </p:txBody>
      </p:sp>
      <p:sp>
        <p:nvSpPr>
          <p:cNvPr id="22" name="Text 20"/>
          <p:cNvSpPr/>
          <p:nvPr/>
        </p:nvSpPr>
        <p:spPr>
          <a:xfrm>
            <a:off x="6217920" y="2834640"/>
            <a:ext cx="1645920" cy="457200"/>
          </a:xfrm>
          <a:prstGeom prst="rect">
            <a:avLst/>
          </a:prstGeom>
          <a:noFill/>
          <a:ln/>
        </p:spPr>
        <p:txBody>
          <a:bodyPr wrap="square" rtlCol="0" anchor="ctr"/>
          <a:lstStyle/>
          <a:p>
            <a:pPr marL="0" indent="0">
              <a:buNone/>
            </a:pPr>
            <a:r>
              <a:rPr lang="en-US" sz="2200" b="1" dirty="0">
                <a:solidFill>
                  <a:srgbClr val="B8860B"/>
                </a:solidFill>
                <a:latin typeface="Cambria" pitchFamily="34" charset="0"/>
                <a:ea typeface="Cambria" pitchFamily="34" charset="-122"/>
                <a:cs typeface="Cambria" pitchFamily="34" charset="-120"/>
              </a:rPr>
              <a:t>244:1</a:t>
            </a:r>
            <a:endParaRPr lang="en-US" sz="2200" dirty="0"/>
          </a:p>
        </p:txBody>
      </p:sp>
      <p:sp>
        <p:nvSpPr>
          <p:cNvPr id="23" name="Shape 21"/>
          <p:cNvSpPr/>
          <p:nvPr/>
        </p:nvSpPr>
        <p:spPr>
          <a:xfrm>
            <a:off x="4617720" y="3429000"/>
            <a:ext cx="3154680" cy="0"/>
          </a:xfrm>
          <a:prstGeom prst="line">
            <a:avLst/>
          </a:prstGeom>
          <a:noFill/>
          <a:ln w="12700">
            <a:solidFill>
              <a:srgbClr val="D7E0E8"/>
            </a:solidFill>
            <a:prstDash val="solid"/>
          </a:ln>
        </p:spPr>
        <p:txBody>
          <a:bodyPr/>
          <a:lstStyle/>
          <a:p>
            <a:endParaRPr lang="en-US"/>
          </a:p>
        </p:txBody>
      </p:sp>
      <p:sp>
        <p:nvSpPr>
          <p:cNvPr id="24" name="Text 22"/>
          <p:cNvSpPr/>
          <p:nvPr/>
        </p:nvSpPr>
        <p:spPr>
          <a:xfrm>
            <a:off x="4617720" y="3611880"/>
            <a:ext cx="3200400" cy="274320"/>
          </a:xfrm>
          <a:prstGeom prst="rect">
            <a:avLst/>
          </a:prstGeom>
          <a:noFill/>
          <a:ln/>
        </p:spPr>
        <p:txBody>
          <a:bodyPr wrap="square" rtlCol="0" anchor="ctr"/>
          <a:lstStyle/>
          <a:p>
            <a:pPr marL="0" indent="0">
              <a:buNone/>
            </a:pPr>
            <a:r>
              <a:rPr lang="en-US" sz="1000" b="1" kern="0" spc="50" dirty="0">
                <a:solidFill>
                  <a:srgbClr val="5A6B7A"/>
                </a:solidFill>
                <a:latin typeface="Calibri" pitchFamily="34" charset="0"/>
                <a:ea typeface="Calibri" pitchFamily="34" charset="-122"/>
                <a:cs typeface="Calibri" pitchFamily="34" charset="-120"/>
              </a:rPr>
              <a:t>WHAT STANDS OUT</a:t>
            </a:r>
            <a:endParaRPr lang="en-US" sz="1000" dirty="0"/>
          </a:p>
        </p:txBody>
      </p:sp>
      <p:sp>
        <p:nvSpPr>
          <p:cNvPr id="25" name="Text 23"/>
          <p:cNvSpPr/>
          <p:nvPr/>
        </p:nvSpPr>
        <p:spPr>
          <a:xfrm>
            <a:off x="4617720" y="3886200"/>
            <a:ext cx="3200400" cy="1920240"/>
          </a:xfrm>
          <a:prstGeom prst="rect">
            <a:avLst/>
          </a:prstGeom>
          <a:noFill/>
          <a:ln/>
        </p:spPr>
        <p:txBody>
          <a:bodyPr wrap="square" rtlCol="0" anchor="ctr"/>
          <a:lstStyle/>
          <a:p>
            <a:pPr marL="0" indent="0">
              <a:lnSpc>
                <a:spcPts val="1600"/>
              </a:lnSpc>
              <a:buNone/>
            </a:pPr>
            <a:r>
              <a:rPr lang="en-US" sz="1200" dirty="0">
                <a:solidFill>
                  <a:srgbClr val="1B3A5C"/>
                </a:solidFill>
                <a:latin typeface="Calibri" pitchFamily="34" charset="0"/>
                <a:ea typeface="Calibri" pitchFamily="34" charset="-122"/>
                <a:cs typeface="Calibri" pitchFamily="34" charset="-120"/>
              </a:rPr>
              <a:t>Five years of Connections Survey trend data; the strongest existing model for what school-level measurement can do.</a:t>
            </a:r>
            <a:endParaRPr lang="en-US" sz="1200" dirty="0"/>
          </a:p>
        </p:txBody>
      </p:sp>
      <p:sp>
        <p:nvSpPr>
          <p:cNvPr id="26" name="Shape 24"/>
          <p:cNvSpPr/>
          <p:nvPr/>
        </p:nvSpPr>
        <p:spPr>
          <a:xfrm>
            <a:off x="8275320" y="1600200"/>
            <a:ext cx="3611880" cy="4343400"/>
          </a:xfrm>
          <a:prstGeom prst="roundRect">
            <a:avLst>
              <a:gd name="adj" fmla="val 2025"/>
            </a:avLst>
          </a:prstGeom>
          <a:solidFill>
            <a:srgbClr val="FFFFFF"/>
          </a:solidFill>
          <a:ln w="12700">
            <a:solidFill>
              <a:srgbClr val="D7E0E8"/>
            </a:solidFill>
            <a:prstDash val="solid"/>
          </a:ln>
        </p:spPr>
        <p:txBody>
          <a:bodyPr/>
          <a:lstStyle/>
          <a:p>
            <a:endParaRPr lang="en-US"/>
          </a:p>
        </p:txBody>
      </p:sp>
      <p:sp>
        <p:nvSpPr>
          <p:cNvPr id="27" name="Shape 25"/>
          <p:cNvSpPr/>
          <p:nvPr/>
        </p:nvSpPr>
        <p:spPr>
          <a:xfrm>
            <a:off x="8275320" y="1600200"/>
            <a:ext cx="3611880" cy="777240"/>
          </a:xfrm>
          <a:prstGeom prst="roundRect">
            <a:avLst>
              <a:gd name="adj" fmla="val 9412"/>
            </a:avLst>
          </a:prstGeom>
          <a:solidFill>
            <a:srgbClr val="1B3A5C"/>
          </a:solidFill>
          <a:ln/>
        </p:spPr>
        <p:txBody>
          <a:bodyPr/>
          <a:lstStyle/>
          <a:p>
            <a:endParaRPr lang="en-US"/>
          </a:p>
        </p:txBody>
      </p:sp>
      <p:sp>
        <p:nvSpPr>
          <p:cNvPr id="28" name="Shape 26"/>
          <p:cNvSpPr/>
          <p:nvPr/>
        </p:nvSpPr>
        <p:spPr>
          <a:xfrm>
            <a:off x="8275320" y="2057400"/>
            <a:ext cx="3611880" cy="320040"/>
          </a:xfrm>
          <a:prstGeom prst="rect">
            <a:avLst/>
          </a:prstGeom>
          <a:solidFill>
            <a:srgbClr val="1B3A5C"/>
          </a:solidFill>
          <a:ln/>
        </p:spPr>
        <p:txBody>
          <a:bodyPr/>
          <a:lstStyle/>
          <a:p>
            <a:endParaRPr lang="en-US"/>
          </a:p>
        </p:txBody>
      </p:sp>
      <p:sp>
        <p:nvSpPr>
          <p:cNvPr id="29" name="Text 27"/>
          <p:cNvSpPr/>
          <p:nvPr/>
        </p:nvSpPr>
        <p:spPr>
          <a:xfrm>
            <a:off x="8458200" y="1600200"/>
            <a:ext cx="3246120" cy="77724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Thompson (TSD)</a:t>
            </a:r>
            <a:endParaRPr lang="en-US" sz="1600" dirty="0"/>
          </a:p>
        </p:txBody>
      </p:sp>
      <p:sp>
        <p:nvSpPr>
          <p:cNvPr id="30" name="Text 28"/>
          <p:cNvSpPr/>
          <p:nvPr/>
        </p:nvSpPr>
        <p:spPr>
          <a:xfrm>
            <a:off x="8503920" y="2606040"/>
            <a:ext cx="1554480" cy="274320"/>
          </a:xfrm>
          <a:prstGeom prst="rect">
            <a:avLst/>
          </a:prstGeom>
          <a:noFill/>
          <a:ln/>
        </p:spPr>
        <p:txBody>
          <a:bodyPr wrap="square" rtlCol="0" anchor="ctr"/>
          <a:lstStyle/>
          <a:p>
            <a:pPr marL="0" indent="0">
              <a:buNone/>
            </a:pPr>
            <a:r>
              <a:rPr lang="en-US" sz="1000" b="1" kern="0" spc="50" dirty="0">
                <a:solidFill>
                  <a:srgbClr val="5A6B7A"/>
                </a:solidFill>
                <a:latin typeface="Calibri" pitchFamily="34" charset="0"/>
                <a:ea typeface="Calibri" pitchFamily="34" charset="-122"/>
                <a:cs typeface="Calibri" pitchFamily="34" charset="-120"/>
              </a:rPr>
              <a:t>ENROLLMENT</a:t>
            </a:r>
            <a:endParaRPr lang="en-US" sz="1000" dirty="0"/>
          </a:p>
        </p:txBody>
      </p:sp>
      <p:sp>
        <p:nvSpPr>
          <p:cNvPr id="31" name="Text 29"/>
          <p:cNvSpPr/>
          <p:nvPr/>
        </p:nvSpPr>
        <p:spPr>
          <a:xfrm>
            <a:off x="8503920" y="2834640"/>
            <a:ext cx="1554480" cy="457200"/>
          </a:xfrm>
          <a:prstGeom prst="rect">
            <a:avLst/>
          </a:prstGeom>
          <a:noFill/>
          <a:ln/>
        </p:spPr>
        <p:txBody>
          <a:bodyPr wrap="square" rtlCol="0" anchor="ctr"/>
          <a:lstStyle/>
          <a:p>
            <a:pPr marL="0" indent="0">
              <a:buNone/>
            </a:pPr>
            <a:r>
              <a:rPr lang="en-US" sz="2200" b="1" dirty="0">
                <a:solidFill>
                  <a:srgbClr val="1B3A5C"/>
                </a:solidFill>
                <a:latin typeface="Cambria" pitchFamily="34" charset="0"/>
                <a:ea typeface="Cambria" pitchFamily="34" charset="-122"/>
                <a:cs typeface="Cambria" pitchFamily="34" charset="-120"/>
              </a:rPr>
              <a:t>13,800</a:t>
            </a:r>
            <a:endParaRPr lang="en-US" sz="2200" dirty="0"/>
          </a:p>
        </p:txBody>
      </p:sp>
      <p:sp>
        <p:nvSpPr>
          <p:cNvPr id="32" name="Text 30"/>
          <p:cNvSpPr/>
          <p:nvPr/>
        </p:nvSpPr>
        <p:spPr>
          <a:xfrm>
            <a:off x="10104120" y="2606040"/>
            <a:ext cx="1645920" cy="274320"/>
          </a:xfrm>
          <a:prstGeom prst="rect">
            <a:avLst/>
          </a:prstGeom>
          <a:noFill/>
          <a:ln/>
        </p:spPr>
        <p:txBody>
          <a:bodyPr wrap="square" rtlCol="0" anchor="ctr"/>
          <a:lstStyle/>
          <a:p>
            <a:pPr marL="0" indent="0">
              <a:buNone/>
            </a:pPr>
            <a:r>
              <a:rPr lang="en-US" sz="1000" b="1" kern="0" spc="50" dirty="0">
                <a:solidFill>
                  <a:srgbClr val="5A6B7A"/>
                </a:solidFill>
                <a:latin typeface="Calibri" pitchFamily="34" charset="0"/>
                <a:ea typeface="Calibri" pitchFamily="34" charset="-122"/>
                <a:cs typeface="Calibri" pitchFamily="34" charset="-120"/>
              </a:rPr>
              <a:t>COUNSELOR RATIO</a:t>
            </a:r>
            <a:endParaRPr lang="en-US" sz="1000" dirty="0"/>
          </a:p>
        </p:txBody>
      </p:sp>
      <p:sp>
        <p:nvSpPr>
          <p:cNvPr id="33" name="Text 31"/>
          <p:cNvSpPr/>
          <p:nvPr/>
        </p:nvSpPr>
        <p:spPr>
          <a:xfrm>
            <a:off x="10104120" y="2834640"/>
            <a:ext cx="1645920" cy="457200"/>
          </a:xfrm>
          <a:prstGeom prst="rect">
            <a:avLst/>
          </a:prstGeom>
          <a:noFill/>
          <a:ln/>
        </p:spPr>
        <p:txBody>
          <a:bodyPr wrap="square" rtlCol="0" anchor="ctr"/>
          <a:lstStyle/>
          <a:p>
            <a:pPr marL="0" indent="0">
              <a:buNone/>
            </a:pPr>
            <a:r>
              <a:rPr lang="en-US" sz="2200" b="1" dirty="0">
                <a:solidFill>
                  <a:srgbClr val="B8860B"/>
                </a:solidFill>
                <a:latin typeface="Cambria" pitchFamily="34" charset="0"/>
                <a:ea typeface="Cambria" pitchFamily="34" charset="-122"/>
                <a:cs typeface="Cambria" pitchFamily="34" charset="-120"/>
              </a:rPr>
              <a:t>266:1</a:t>
            </a:r>
            <a:endParaRPr lang="en-US" sz="2200" dirty="0"/>
          </a:p>
        </p:txBody>
      </p:sp>
      <p:sp>
        <p:nvSpPr>
          <p:cNvPr id="34" name="Shape 32"/>
          <p:cNvSpPr/>
          <p:nvPr/>
        </p:nvSpPr>
        <p:spPr>
          <a:xfrm>
            <a:off x="8503920" y="3429000"/>
            <a:ext cx="3154680" cy="0"/>
          </a:xfrm>
          <a:prstGeom prst="line">
            <a:avLst/>
          </a:prstGeom>
          <a:noFill/>
          <a:ln w="12700">
            <a:solidFill>
              <a:srgbClr val="D7E0E8"/>
            </a:solidFill>
            <a:prstDash val="solid"/>
          </a:ln>
        </p:spPr>
        <p:txBody>
          <a:bodyPr/>
          <a:lstStyle/>
          <a:p>
            <a:endParaRPr lang="en-US"/>
          </a:p>
        </p:txBody>
      </p:sp>
      <p:sp>
        <p:nvSpPr>
          <p:cNvPr id="35" name="Text 33"/>
          <p:cNvSpPr/>
          <p:nvPr/>
        </p:nvSpPr>
        <p:spPr>
          <a:xfrm>
            <a:off x="8503920" y="3611880"/>
            <a:ext cx="3200400" cy="274320"/>
          </a:xfrm>
          <a:prstGeom prst="rect">
            <a:avLst/>
          </a:prstGeom>
          <a:noFill/>
          <a:ln/>
        </p:spPr>
        <p:txBody>
          <a:bodyPr wrap="square" rtlCol="0" anchor="ctr"/>
          <a:lstStyle/>
          <a:p>
            <a:pPr marL="0" indent="0">
              <a:buNone/>
            </a:pPr>
            <a:r>
              <a:rPr lang="en-US" sz="1000" b="1" kern="0" spc="50" dirty="0">
                <a:solidFill>
                  <a:srgbClr val="5A6B7A"/>
                </a:solidFill>
                <a:latin typeface="Calibri" pitchFamily="34" charset="0"/>
                <a:ea typeface="Calibri" pitchFamily="34" charset="-122"/>
                <a:cs typeface="Calibri" pitchFamily="34" charset="-120"/>
              </a:rPr>
              <a:t>WHAT STANDS OUT</a:t>
            </a:r>
            <a:endParaRPr lang="en-US" sz="1000" dirty="0"/>
          </a:p>
        </p:txBody>
      </p:sp>
      <p:sp>
        <p:nvSpPr>
          <p:cNvPr id="36" name="Text 34"/>
          <p:cNvSpPr/>
          <p:nvPr/>
        </p:nvSpPr>
        <p:spPr>
          <a:xfrm>
            <a:off x="8503920" y="3886200"/>
            <a:ext cx="3200400" cy="1920240"/>
          </a:xfrm>
          <a:prstGeom prst="rect">
            <a:avLst/>
          </a:prstGeom>
          <a:noFill/>
          <a:ln/>
        </p:spPr>
        <p:txBody>
          <a:bodyPr wrap="square" rtlCol="0" anchor="ctr"/>
          <a:lstStyle/>
          <a:p>
            <a:pPr marL="0" indent="0">
              <a:lnSpc>
                <a:spcPts val="1600"/>
              </a:lnSpc>
              <a:buNone/>
            </a:pPr>
            <a:r>
              <a:rPr lang="en-US" sz="1200" dirty="0">
                <a:solidFill>
                  <a:srgbClr val="1B3A5C"/>
                </a:solidFill>
                <a:latin typeface="Calibri" pitchFamily="34" charset="0"/>
                <a:ea typeface="Calibri" pitchFamily="34" charset="-122"/>
                <a:cs typeface="Calibri" pitchFamily="34" charset="-120"/>
              </a:rPr>
              <a:t>Formal MTSS department and comprehensive screening system; HKCS participation currently limited to select schools.</a:t>
            </a:r>
            <a:endParaRPr lang="en-US" sz="1200" dirty="0"/>
          </a:p>
        </p:txBody>
      </p:sp>
      <p:sp>
        <p:nvSpPr>
          <p:cNvPr id="37" name="Text 35"/>
          <p:cNvSpPr/>
          <p:nvPr/>
        </p:nvSpPr>
        <p:spPr>
          <a:xfrm>
            <a:off x="457200" y="6537960"/>
            <a:ext cx="8686800"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Source: Survey Crosswalk Workbook (D3), Sheet 7; CDE Unified Improvement Planning Dashboards</a:t>
            </a:r>
            <a:endParaRPr lang="en-US" sz="900" dirty="0"/>
          </a:p>
        </p:txBody>
      </p:sp>
      <p:sp>
        <p:nvSpPr>
          <p:cNvPr id="38" name="Text 36"/>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marL="0" indent="0">
              <a:buNone/>
            </a:pPr>
            <a:r>
              <a:rPr lang="en-US" sz="1250" b="1" kern="0" spc="150" dirty="0">
                <a:solidFill>
                  <a:srgbClr val="2066A8"/>
                </a:solidFill>
                <a:latin typeface="Calibri" pitchFamily="34" charset="0"/>
                <a:ea typeface="Calibri" pitchFamily="34" charset="-122"/>
                <a:cs typeface="Calibri" pitchFamily="34" charset="-120"/>
              </a:rPr>
              <a:t>THE RECOMMENDATION</a:t>
            </a:r>
            <a:endParaRPr lang="en-US" sz="1250" dirty="0"/>
          </a:p>
        </p:txBody>
      </p:sp>
      <p:sp>
        <p:nvSpPr>
          <p:cNvPr id="3" name="Text 1"/>
          <p:cNvSpPr/>
          <p:nvPr/>
        </p:nvSpPr>
        <p:spPr>
          <a:xfrm>
            <a:off x="502920" y="685800"/>
            <a:ext cx="11155680" cy="777240"/>
          </a:xfrm>
          <a:prstGeom prst="rect">
            <a:avLst/>
          </a:prstGeom>
          <a:noFill/>
          <a:ln/>
        </p:spPr>
        <p:txBody>
          <a:bodyPr wrap="square" rtlCol="0" anchor="ctr"/>
          <a:lstStyle/>
          <a:p>
            <a:pPr marL="0" indent="0">
              <a:buNone/>
            </a:pPr>
            <a:r>
              <a:rPr lang="en-US" sz="2900" b="1" dirty="0">
                <a:solidFill>
                  <a:srgbClr val="1B3A5C"/>
                </a:solidFill>
                <a:latin typeface="Cambria" pitchFamily="34" charset="0"/>
                <a:ea typeface="Cambria" pitchFamily="34" charset="-122"/>
                <a:cs typeface="Cambria" pitchFamily="34" charset="-120"/>
              </a:rPr>
              <a:t>Nine items, four tiers, one shared picture</a:t>
            </a:r>
            <a:endParaRPr lang="en-US" sz="2900" dirty="0"/>
          </a:p>
        </p:txBody>
      </p:sp>
      <p:sp>
        <p:nvSpPr>
          <p:cNvPr id="4" name="Text 2"/>
          <p:cNvSpPr/>
          <p:nvPr/>
        </p:nvSpPr>
        <p:spPr>
          <a:xfrm>
            <a:off x="502920" y="1417320"/>
            <a:ext cx="11155680" cy="548640"/>
          </a:xfrm>
          <a:prstGeom prst="rect">
            <a:avLst/>
          </a:prstGeom>
          <a:noFill/>
          <a:ln/>
        </p:spPr>
        <p:txBody>
          <a:bodyPr wrap="square" rtlCol="0" anchor="ctr"/>
          <a:lstStyle/>
          <a:p>
            <a:pPr marL="0" indent="0">
              <a:lnSpc>
                <a:spcPts val="1700"/>
              </a:lnSpc>
              <a:buNone/>
            </a:pPr>
            <a:r>
              <a:rPr lang="en-US" sz="1250" dirty="0">
                <a:solidFill>
                  <a:srgbClr val="1B3A5C"/>
                </a:solidFill>
                <a:latin typeface="Calibri" pitchFamily="34" charset="0"/>
                <a:ea typeface="Calibri" pitchFamily="34" charset="-122"/>
                <a:cs typeface="Calibri" pitchFamily="34" charset="-120"/>
              </a:rPr>
              <a:t>Every item below is scored against the same four criteria used across the crosswalk: prevalence, equity disparity, district coverage, and feasibility ,  including for Estes Park, at 905 students and a 253-to-1 counselor ratio.</a:t>
            </a:r>
            <a:endParaRPr lang="en-US" sz="1250" dirty="0"/>
          </a:p>
        </p:txBody>
      </p:sp>
      <p:sp>
        <p:nvSpPr>
          <p:cNvPr id="5" name="Shape 3"/>
          <p:cNvSpPr/>
          <p:nvPr/>
        </p:nvSpPr>
        <p:spPr>
          <a:xfrm>
            <a:off x="502920" y="2148840"/>
            <a:ext cx="2743200" cy="502920"/>
          </a:xfrm>
          <a:prstGeom prst="roundRect">
            <a:avLst>
              <a:gd name="adj" fmla="val 10909"/>
            </a:avLst>
          </a:prstGeom>
          <a:solidFill>
            <a:srgbClr val="B8860B"/>
          </a:solidFill>
          <a:ln/>
        </p:spPr>
        <p:txBody>
          <a:bodyPr/>
          <a:lstStyle/>
          <a:p>
            <a:endParaRPr lang="en-US"/>
          </a:p>
        </p:txBody>
      </p:sp>
      <p:sp>
        <p:nvSpPr>
          <p:cNvPr id="6" name="Text 4"/>
          <p:cNvSpPr/>
          <p:nvPr/>
        </p:nvSpPr>
        <p:spPr>
          <a:xfrm>
            <a:off x="502920" y="2148840"/>
            <a:ext cx="2743200"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PRIMARY</a:t>
            </a:r>
            <a:endParaRPr lang="en-US" sz="1100" dirty="0"/>
          </a:p>
        </p:txBody>
      </p:sp>
      <p:sp>
        <p:nvSpPr>
          <p:cNvPr id="7" name="Shape 5"/>
          <p:cNvSpPr/>
          <p:nvPr/>
        </p:nvSpPr>
        <p:spPr>
          <a:xfrm>
            <a:off x="502920" y="2834640"/>
            <a:ext cx="2743200" cy="566928"/>
          </a:xfrm>
          <a:prstGeom prst="roundRect">
            <a:avLst>
              <a:gd name="adj" fmla="val 9677"/>
            </a:avLst>
          </a:prstGeom>
          <a:solidFill>
            <a:srgbClr val="E8EEF4"/>
          </a:solidFill>
          <a:ln/>
        </p:spPr>
        <p:txBody>
          <a:bodyPr/>
          <a:lstStyle/>
          <a:p>
            <a:endParaRPr lang="en-US"/>
          </a:p>
        </p:txBody>
      </p:sp>
      <p:sp>
        <p:nvSpPr>
          <p:cNvPr id="8" name="Text 6"/>
          <p:cNvSpPr/>
          <p:nvPr/>
        </p:nvSpPr>
        <p:spPr>
          <a:xfrm>
            <a:off x="612648" y="2834640"/>
            <a:ext cx="2523744" cy="566928"/>
          </a:xfrm>
          <a:prstGeom prst="rect">
            <a:avLst/>
          </a:prstGeom>
          <a:noFill/>
          <a:ln/>
        </p:spPr>
        <p:txBody>
          <a:bodyPr wrap="square" rtlCol="0" anchor="ctr"/>
          <a:lstStyle/>
          <a:p>
            <a:pPr marL="0" indent="0" algn="ctr">
              <a:lnSpc>
                <a:spcPts val="1250"/>
              </a:lnSpc>
              <a:buNone/>
            </a:pPr>
            <a:r>
              <a:rPr lang="en-US" sz="1100" dirty="0">
                <a:solidFill>
                  <a:srgbClr val="1B3A5C"/>
                </a:solidFill>
                <a:latin typeface="Calibri" pitchFamily="34" charset="0"/>
                <a:ea typeface="Calibri" pitchFamily="34" charset="-122"/>
                <a:cs typeface="Calibri" pitchFamily="34" charset="-120"/>
              </a:rPr>
              <a:t>Persistent sadness / hopelessness</a:t>
            </a:r>
            <a:endParaRPr lang="en-US" sz="1100" dirty="0"/>
          </a:p>
        </p:txBody>
      </p:sp>
      <p:sp>
        <p:nvSpPr>
          <p:cNvPr id="9" name="Shape 7"/>
          <p:cNvSpPr/>
          <p:nvPr/>
        </p:nvSpPr>
        <p:spPr>
          <a:xfrm>
            <a:off x="3447288" y="2148840"/>
            <a:ext cx="2743200" cy="502920"/>
          </a:xfrm>
          <a:prstGeom prst="roundRect">
            <a:avLst>
              <a:gd name="adj" fmla="val 10909"/>
            </a:avLst>
          </a:prstGeom>
          <a:solidFill>
            <a:srgbClr val="2066A8"/>
          </a:solidFill>
          <a:ln/>
        </p:spPr>
        <p:txBody>
          <a:bodyPr/>
          <a:lstStyle/>
          <a:p>
            <a:endParaRPr lang="en-US"/>
          </a:p>
        </p:txBody>
      </p:sp>
      <p:sp>
        <p:nvSpPr>
          <p:cNvPr id="10" name="Text 8"/>
          <p:cNvSpPr/>
          <p:nvPr/>
        </p:nvSpPr>
        <p:spPr>
          <a:xfrm>
            <a:off x="3447288" y="2148840"/>
            <a:ext cx="2743200"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TIER 1 — near-zero cost</a:t>
            </a:r>
            <a:endParaRPr lang="en-US" sz="1100" dirty="0"/>
          </a:p>
        </p:txBody>
      </p:sp>
      <p:sp>
        <p:nvSpPr>
          <p:cNvPr id="11" name="Shape 9"/>
          <p:cNvSpPr/>
          <p:nvPr/>
        </p:nvSpPr>
        <p:spPr>
          <a:xfrm>
            <a:off x="3447288" y="2834640"/>
            <a:ext cx="2743200" cy="566928"/>
          </a:xfrm>
          <a:prstGeom prst="roundRect">
            <a:avLst>
              <a:gd name="adj" fmla="val 9677"/>
            </a:avLst>
          </a:prstGeom>
          <a:solidFill>
            <a:srgbClr val="E8EEF4"/>
          </a:solidFill>
          <a:ln/>
        </p:spPr>
        <p:txBody>
          <a:bodyPr/>
          <a:lstStyle/>
          <a:p>
            <a:endParaRPr lang="en-US"/>
          </a:p>
        </p:txBody>
      </p:sp>
      <p:sp>
        <p:nvSpPr>
          <p:cNvPr id="12" name="Text 10"/>
          <p:cNvSpPr/>
          <p:nvPr/>
        </p:nvSpPr>
        <p:spPr>
          <a:xfrm>
            <a:off x="3557016" y="2834640"/>
            <a:ext cx="2523744" cy="566928"/>
          </a:xfrm>
          <a:prstGeom prst="rect">
            <a:avLst/>
          </a:prstGeom>
          <a:noFill/>
          <a:ln/>
        </p:spPr>
        <p:txBody>
          <a:bodyPr wrap="square" rtlCol="0" anchor="ctr"/>
          <a:lstStyle/>
          <a:p>
            <a:pPr marL="0" indent="0" algn="ctr">
              <a:lnSpc>
                <a:spcPts val="1250"/>
              </a:lnSpc>
              <a:buNone/>
            </a:pPr>
            <a:r>
              <a:rPr lang="en-US" sz="1100" dirty="0">
                <a:solidFill>
                  <a:srgbClr val="1B3A5C"/>
                </a:solidFill>
                <a:latin typeface="Calibri" pitchFamily="34" charset="0"/>
                <a:ea typeface="Calibri" pitchFamily="34" charset="-122"/>
                <a:cs typeface="Calibri" pitchFamily="34" charset="-120"/>
              </a:rPr>
              <a:t>Stress manageability</a:t>
            </a:r>
            <a:endParaRPr lang="en-US" sz="1100" dirty="0"/>
          </a:p>
        </p:txBody>
      </p:sp>
      <p:sp>
        <p:nvSpPr>
          <p:cNvPr id="13" name="Shape 11"/>
          <p:cNvSpPr/>
          <p:nvPr/>
        </p:nvSpPr>
        <p:spPr>
          <a:xfrm>
            <a:off x="3447288" y="3520440"/>
            <a:ext cx="2743200" cy="566928"/>
          </a:xfrm>
          <a:prstGeom prst="roundRect">
            <a:avLst>
              <a:gd name="adj" fmla="val 9677"/>
            </a:avLst>
          </a:prstGeom>
          <a:solidFill>
            <a:srgbClr val="E8EEF4"/>
          </a:solidFill>
          <a:ln/>
        </p:spPr>
        <p:txBody>
          <a:bodyPr/>
          <a:lstStyle/>
          <a:p>
            <a:endParaRPr lang="en-US"/>
          </a:p>
        </p:txBody>
      </p:sp>
      <p:sp>
        <p:nvSpPr>
          <p:cNvPr id="14" name="Text 12"/>
          <p:cNvSpPr/>
          <p:nvPr/>
        </p:nvSpPr>
        <p:spPr>
          <a:xfrm>
            <a:off x="3557016" y="3520440"/>
            <a:ext cx="2523744" cy="566928"/>
          </a:xfrm>
          <a:prstGeom prst="rect">
            <a:avLst/>
          </a:prstGeom>
          <a:noFill/>
          <a:ln/>
        </p:spPr>
        <p:txBody>
          <a:bodyPr wrap="square" rtlCol="0" anchor="ctr"/>
          <a:lstStyle/>
          <a:p>
            <a:pPr marL="0" indent="0" algn="ctr">
              <a:lnSpc>
                <a:spcPts val="1250"/>
              </a:lnSpc>
              <a:buNone/>
            </a:pPr>
            <a:r>
              <a:rPr lang="en-US" sz="1100" dirty="0">
                <a:solidFill>
                  <a:srgbClr val="1B3A5C"/>
                </a:solidFill>
                <a:latin typeface="Calibri" pitchFamily="34" charset="0"/>
                <a:ea typeface="Calibri" pitchFamily="34" charset="-122"/>
                <a:cs typeface="Calibri" pitchFamily="34" charset="-120"/>
              </a:rPr>
              <a:t>Trusted adult</a:t>
            </a:r>
            <a:endParaRPr lang="en-US" sz="1100" dirty="0"/>
          </a:p>
        </p:txBody>
      </p:sp>
      <p:sp>
        <p:nvSpPr>
          <p:cNvPr id="15" name="Shape 13"/>
          <p:cNvSpPr/>
          <p:nvPr/>
        </p:nvSpPr>
        <p:spPr>
          <a:xfrm>
            <a:off x="3447288" y="4206240"/>
            <a:ext cx="2743200" cy="566928"/>
          </a:xfrm>
          <a:prstGeom prst="roundRect">
            <a:avLst>
              <a:gd name="adj" fmla="val 9677"/>
            </a:avLst>
          </a:prstGeom>
          <a:solidFill>
            <a:srgbClr val="E8EEF4"/>
          </a:solidFill>
          <a:ln/>
        </p:spPr>
        <p:txBody>
          <a:bodyPr/>
          <a:lstStyle/>
          <a:p>
            <a:endParaRPr lang="en-US"/>
          </a:p>
        </p:txBody>
      </p:sp>
      <p:sp>
        <p:nvSpPr>
          <p:cNvPr id="16" name="Text 14"/>
          <p:cNvSpPr/>
          <p:nvPr/>
        </p:nvSpPr>
        <p:spPr>
          <a:xfrm>
            <a:off x="3557016" y="4206240"/>
            <a:ext cx="2523744" cy="566928"/>
          </a:xfrm>
          <a:prstGeom prst="rect">
            <a:avLst/>
          </a:prstGeom>
          <a:noFill/>
          <a:ln/>
        </p:spPr>
        <p:txBody>
          <a:bodyPr wrap="square" rtlCol="0" anchor="ctr"/>
          <a:lstStyle/>
          <a:p>
            <a:pPr marL="0" indent="0" algn="ctr">
              <a:lnSpc>
                <a:spcPts val="1250"/>
              </a:lnSpc>
              <a:buNone/>
            </a:pPr>
            <a:r>
              <a:rPr lang="en-US" sz="1100" dirty="0">
                <a:solidFill>
                  <a:srgbClr val="1B3A5C"/>
                </a:solidFill>
                <a:latin typeface="Calibri" pitchFamily="34" charset="0"/>
                <a:ea typeface="Calibri" pitchFamily="34" charset="-122"/>
                <a:cs typeface="Calibri" pitchFamily="34" charset="-120"/>
              </a:rPr>
              <a:t>Belonging</a:t>
            </a:r>
            <a:endParaRPr lang="en-US" sz="1100" dirty="0"/>
          </a:p>
        </p:txBody>
      </p:sp>
      <p:sp>
        <p:nvSpPr>
          <p:cNvPr id="17" name="Shape 15"/>
          <p:cNvSpPr/>
          <p:nvPr/>
        </p:nvSpPr>
        <p:spPr>
          <a:xfrm>
            <a:off x="3447288" y="4892040"/>
            <a:ext cx="2743200" cy="566928"/>
          </a:xfrm>
          <a:prstGeom prst="roundRect">
            <a:avLst>
              <a:gd name="adj" fmla="val 9677"/>
            </a:avLst>
          </a:prstGeom>
          <a:solidFill>
            <a:srgbClr val="E8EEF4"/>
          </a:solidFill>
          <a:ln/>
        </p:spPr>
        <p:txBody>
          <a:bodyPr/>
          <a:lstStyle/>
          <a:p>
            <a:endParaRPr lang="en-US"/>
          </a:p>
        </p:txBody>
      </p:sp>
      <p:sp>
        <p:nvSpPr>
          <p:cNvPr id="18" name="Text 16"/>
          <p:cNvSpPr/>
          <p:nvPr/>
        </p:nvSpPr>
        <p:spPr>
          <a:xfrm>
            <a:off x="3557016" y="4892040"/>
            <a:ext cx="2523744" cy="566928"/>
          </a:xfrm>
          <a:prstGeom prst="rect">
            <a:avLst/>
          </a:prstGeom>
          <a:noFill/>
          <a:ln/>
        </p:spPr>
        <p:txBody>
          <a:bodyPr wrap="square" rtlCol="0" anchor="ctr"/>
          <a:lstStyle/>
          <a:p>
            <a:pPr marL="0" indent="0" algn="ctr">
              <a:lnSpc>
                <a:spcPts val="1250"/>
              </a:lnSpc>
              <a:buNone/>
            </a:pPr>
            <a:r>
              <a:rPr lang="en-US" sz="1100" dirty="0">
                <a:solidFill>
                  <a:srgbClr val="1B3A5C"/>
                </a:solidFill>
                <a:latin typeface="Calibri" pitchFamily="34" charset="0"/>
                <a:ea typeface="Calibri" pitchFamily="34" charset="-122"/>
                <a:cs typeface="Calibri" pitchFamily="34" charset="-120"/>
              </a:rPr>
              <a:t>School safety</a:t>
            </a:r>
            <a:endParaRPr lang="en-US" sz="1100" dirty="0"/>
          </a:p>
        </p:txBody>
      </p:sp>
      <p:sp>
        <p:nvSpPr>
          <p:cNvPr id="19" name="Shape 17"/>
          <p:cNvSpPr/>
          <p:nvPr/>
        </p:nvSpPr>
        <p:spPr>
          <a:xfrm>
            <a:off x="6391656" y="2148840"/>
            <a:ext cx="2743200" cy="502920"/>
          </a:xfrm>
          <a:prstGeom prst="roundRect">
            <a:avLst>
              <a:gd name="adj" fmla="val 10909"/>
            </a:avLst>
          </a:prstGeom>
          <a:solidFill>
            <a:srgbClr val="1B3A5C"/>
          </a:solidFill>
          <a:ln/>
        </p:spPr>
        <p:txBody>
          <a:bodyPr/>
          <a:lstStyle/>
          <a:p>
            <a:endParaRPr lang="en-US"/>
          </a:p>
        </p:txBody>
      </p:sp>
      <p:sp>
        <p:nvSpPr>
          <p:cNvPr id="20" name="Text 18"/>
          <p:cNvSpPr/>
          <p:nvPr/>
        </p:nvSpPr>
        <p:spPr>
          <a:xfrm>
            <a:off x="6391656" y="2148840"/>
            <a:ext cx="2743200"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TIER 2 — extending the picture</a:t>
            </a:r>
            <a:endParaRPr lang="en-US" sz="1100" dirty="0"/>
          </a:p>
        </p:txBody>
      </p:sp>
      <p:sp>
        <p:nvSpPr>
          <p:cNvPr id="21" name="Shape 19"/>
          <p:cNvSpPr/>
          <p:nvPr/>
        </p:nvSpPr>
        <p:spPr>
          <a:xfrm>
            <a:off x="6391656" y="2834640"/>
            <a:ext cx="2743200" cy="566928"/>
          </a:xfrm>
          <a:prstGeom prst="roundRect">
            <a:avLst>
              <a:gd name="adj" fmla="val 9677"/>
            </a:avLst>
          </a:prstGeom>
          <a:solidFill>
            <a:srgbClr val="E8EEF4"/>
          </a:solidFill>
          <a:ln/>
        </p:spPr>
        <p:txBody>
          <a:bodyPr/>
          <a:lstStyle/>
          <a:p>
            <a:endParaRPr lang="en-US"/>
          </a:p>
        </p:txBody>
      </p:sp>
      <p:sp>
        <p:nvSpPr>
          <p:cNvPr id="22" name="Text 20"/>
          <p:cNvSpPr/>
          <p:nvPr/>
        </p:nvSpPr>
        <p:spPr>
          <a:xfrm>
            <a:off x="6501384" y="2834640"/>
            <a:ext cx="2523744" cy="566928"/>
          </a:xfrm>
          <a:prstGeom prst="rect">
            <a:avLst/>
          </a:prstGeom>
          <a:noFill/>
          <a:ln/>
        </p:spPr>
        <p:txBody>
          <a:bodyPr wrap="square" rtlCol="0" anchor="ctr"/>
          <a:lstStyle/>
          <a:p>
            <a:pPr marL="0" indent="0" algn="ctr">
              <a:lnSpc>
                <a:spcPts val="1250"/>
              </a:lnSpc>
              <a:buNone/>
            </a:pPr>
            <a:r>
              <a:rPr lang="en-US" sz="1100" dirty="0">
                <a:solidFill>
                  <a:srgbClr val="1B3A5C"/>
                </a:solidFill>
                <a:latin typeface="Calibri" pitchFamily="34" charset="0"/>
                <a:ea typeface="Calibri" pitchFamily="34" charset="-122"/>
                <a:cs typeface="Calibri" pitchFamily="34" charset="-120"/>
              </a:rPr>
              <a:t>Poor mental health frequency</a:t>
            </a:r>
            <a:endParaRPr lang="en-US" sz="1100" dirty="0"/>
          </a:p>
        </p:txBody>
      </p:sp>
      <p:sp>
        <p:nvSpPr>
          <p:cNvPr id="23" name="Shape 21"/>
          <p:cNvSpPr/>
          <p:nvPr/>
        </p:nvSpPr>
        <p:spPr>
          <a:xfrm>
            <a:off x="6391656" y="3520440"/>
            <a:ext cx="2743200" cy="566928"/>
          </a:xfrm>
          <a:prstGeom prst="roundRect">
            <a:avLst>
              <a:gd name="adj" fmla="val 9677"/>
            </a:avLst>
          </a:prstGeom>
          <a:solidFill>
            <a:srgbClr val="E8EEF4"/>
          </a:solidFill>
          <a:ln/>
        </p:spPr>
        <p:txBody>
          <a:bodyPr/>
          <a:lstStyle/>
          <a:p>
            <a:endParaRPr lang="en-US"/>
          </a:p>
        </p:txBody>
      </p:sp>
      <p:sp>
        <p:nvSpPr>
          <p:cNvPr id="24" name="Text 22"/>
          <p:cNvSpPr/>
          <p:nvPr/>
        </p:nvSpPr>
        <p:spPr>
          <a:xfrm>
            <a:off x="6501384" y="3520440"/>
            <a:ext cx="2523744" cy="566928"/>
          </a:xfrm>
          <a:prstGeom prst="rect">
            <a:avLst/>
          </a:prstGeom>
          <a:noFill/>
          <a:ln/>
        </p:spPr>
        <p:txBody>
          <a:bodyPr wrap="square" rtlCol="0" anchor="ctr"/>
          <a:lstStyle/>
          <a:p>
            <a:pPr marL="0" indent="0" algn="ctr">
              <a:lnSpc>
                <a:spcPts val="1250"/>
              </a:lnSpc>
              <a:buNone/>
            </a:pPr>
            <a:r>
              <a:rPr lang="en-US" sz="1100" dirty="0">
                <a:solidFill>
                  <a:srgbClr val="1B3A5C"/>
                </a:solidFill>
                <a:latin typeface="Calibri" pitchFamily="34" charset="0"/>
                <a:ea typeface="Calibri" pitchFamily="34" charset="-122"/>
                <a:cs typeface="Calibri" pitchFamily="34" charset="-120"/>
              </a:rPr>
              <a:t>Help-seeking capacity</a:t>
            </a:r>
            <a:endParaRPr lang="en-US" sz="1100" dirty="0"/>
          </a:p>
        </p:txBody>
      </p:sp>
      <p:sp>
        <p:nvSpPr>
          <p:cNvPr id="25" name="Shape 23"/>
          <p:cNvSpPr/>
          <p:nvPr/>
        </p:nvSpPr>
        <p:spPr>
          <a:xfrm>
            <a:off x="6391656" y="4206240"/>
            <a:ext cx="2743200" cy="566928"/>
          </a:xfrm>
          <a:prstGeom prst="roundRect">
            <a:avLst>
              <a:gd name="adj" fmla="val 9677"/>
            </a:avLst>
          </a:prstGeom>
          <a:solidFill>
            <a:srgbClr val="E8EEF4"/>
          </a:solidFill>
          <a:ln/>
        </p:spPr>
        <p:txBody>
          <a:bodyPr/>
          <a:lstStyle/>
          <a:p>
            <a:endParaRPr lang="en-US"/>
          </a:p>
        </p:txBody>
      </p:sp>
      <p:sp>
        <p:nvSpPr>
          <p:cNvPr id="26" name="Text 24"/>
          <p:cNvSpPr/>
          <p:nvPr/>
        </p:nvSpPr>
        <p:spPr>
          <a:xfrm>
            <a:off x="6501384" y="4206240"/>
            <a:ext cx="2523744" cy="566928"/>
          </a:xfrm>
          <a:prstGeom prst="rect">
            <a:avLst/>
          </a:prstGeom>
          <a:noFill/>
          <a:ln/>
        </p:spPr>
        <p:txBody>
          <a:bodyPr wrap="square" rtlCol="0" anchor="ctr"/>
          <a:lstStyle/>
          <a:p>
            <a:pPr marL="0" indent="0" algn="ctr">
              <a:lnSpc>
                <a:spcPts val="1250"/>
              </a:lnSpc>
              <a:buNone/>
            </a:pPr>
            <a:r>
              <a:rPr lang="en-US" sz="1100" dirty="0">
                <a:solidFill>
                  <a:srgbClr val="1B3A5C"/>
                </a:solidFill>
                <a:latin typeface="Calibri" pitchFamily="34" charset="0"/>
                <a:ea typeface="Calibri" pitchFamily="34" charset="-122"/>
                <a:cs typeface="Calibri" pitchFamily="34" charset="-120"/>
              </a:rPr>
              <a:t>Food security</a:t>
            </a:r>
            <a:endParaRPr lang="en-US" sz="1100" dirty="0"/>
          </a:p>
        </p:txBody>
      </p:sp>
      <p:sp>
        <p:nvSpPr>
          <p:cNvPr id="27" name="Shape 25"/>
          <p:cNvSpPr/>
          <p:nvPr/>
        </p:nvSpPr>
        <p:spPr>
          <a:xfrm>
            <a:off x="9336024" y="2148840"/>
            <a:ext cx="2743200" cy="502920"/>
          </a:xfrm>
          <a:prstGeom prst="roundRect">
            <a:avLst>
              <a:gd name="adj" fmla="val 10909"/>
            </a:avLst>
          </a:prstGeom>
          <a:solidFill>
            <a:srgbClr val="B23A48"/>
          </a:solidFill>
          <a:ln/>
        </p:spPr>
        <p:txBody>
          <a:bodyPr/>
          <a:lstStyle/>
          <a:p>
            <a:endParaRPr lang="en-US"/>
          </a:p>
        </p:txBody>
      </p:sp>
      <p:sp>
        <p:nvSpPr>
          <p:cNvPr id="28" name="Text 26"/>
          <p:cNvSpPr/>
          <p:nvPr/>
        </p:nvSpPr>
        <p:spPr>
          <a:xfrm>
            <a:off x="9336024" y="2148840"/>
            <a:ext cx="2743200"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EQUITY SUPPLEMENT</a:t>
            </a:r>
            <a:endParaRPr lang="en-US" sz="1100" dirty="0"/>
          </a:p>
        </p:txBody>
      </p:sp>
      <p:sp>
        <p:nvSpPr>
          <p:cNvPr id="29" name="Shape 27"/>
          <p:cNvSpPr/>
          <p:nvPr/>
        </p:nvSpPr>
        <p:spPr>
          <a:xfrm>
            <a:off x="9336024" y="2834640"/>
            <a:ext cx="2743200" cy="566928"/>
          </a:xfrm>
          <a:prstGeom prst="roundRect">
            <a:avLst>
              <a:gd name="adj" fmla="val 9677"/>
            </a:avLst>
          </a:prstGeom>
          <a:solidFill>
            <a:srgbClr val="E8EEF4"/>
          </a:solidFill>
          <a:ln/>
        </p:spPr>
        <p:txBody>
          <a:bodyPr/>
          <a:lstStyle/>
          <a:p>
            <a:endParaRPr lang="en-US"/>
          </a:p>
        </p:txBody>
      </p:sp>
      <p:sp>
        <p:nvSpPr>
          <p:cNvPr id="30" name="Text 28"/>
          <p:cNvSpPr/>
          <p:nvPr/>
        </p:nvSpPr>
        <p:spPr>
          <a:xfrm>
            <a:off x="9445752" y="2834640"/>
            <a:ext cx="2523744" cy="566928"/>
          </a:xfrm>
          <a:prstGeom prst="rect">
            <a:avLst/>
          </a:prstGeom>
          <a:noFill/>
          <a:ln/>
        </p:spPr>
        <p:txBody>
          <a:bodyPr wrap="square" rtlCol="0" anchor="ctr"/>
          <a:lstStyle/>
          <a:p>
            <a:pPr marL="0" indent="0" algn="ctr">
              <a:lnSpc>
                <a:spcPts val="1250"/>
              </a:lnSpc>
              <a:buNone/>
            </a:pPr>
            <a:r>
              <a:rPr lang="en-US" sz="1100" dirty="0">
                <a:solidFill>
                  <a:srgbClr val="1B3A5C"/>
                </a:solidFill>
                <a:latin typeface="Calibri" pitchFamily="34" charset="0"/>
                <a:ea typeface="Calibri" pitchFamily="34" charset="-122"/>
                <a:cs typeface="Calibri" pitchFamily="34" charset="-120"/>
              </a:rPr>
              <a:t>Experiences of racism</a:t>
            </a:r>
            <a:endParaRPr lang="en-US" sz="1100" dirty="0"/>
          </a:p>
        </p:txBody>
      </p:sp>
      <p:sp>
        <p:nvSpPr>
          <p:cNvPr id="31" name="Text 29"/>
          <p:cNvSpPr/>
          <p:nvPr/>
        </p:nvSpPr>
        <p:spPr>
          <a:xfrm>
            <a:off x="502920" y="5989320"/>
            <a:ext cx="11155680" cy="457200"/>
          </a:xfrm>
          <a:prstGeom prst="rect">
            <a:avLst/>
          </a:prstGeom>
          <a:noFill/>
          <a:ln/>
        </p:spPr>
        <p:txBody>
          <a:bodyPr wrap="square" rtlCol="0" anchor="ctr"/>
          <a:lstStyle/>
          <a:p>
            <a:pPr marL="0" indent="0">
              <a:buNone/>
            </a:pPr>
            <a:r>
              <a:rPr lang="en-US" sz="1200" i="1" dirty="0">
                <a:solidFill>
                  <a:srgbClr val="5A6B7A"/>
                </a:solidFill>
                <a:latin typeface="Calibri" pitchFamily="34" charset="0"/>
                <a:ea typeface="Calibri" pitchFamily="34" charset="-122"/>
                <a:cs typeface="Calibri" pitchFamily="34" charset="-120"/>
              </a:rPr>
              <a:t>Every recommendation carries one standing requirement: disaggregation by race, language, gender identity, and income as the default output, not an optional add-on.</a:t>
            </a:r>
            <a:endParaRPr lang="en-US" sz="1200" dirty="0"/>
          </a:p>
        </p:txBody>
      </p:sp>
      <p:sp>
        <p:nvSpPr>
          <p:cNvPr id="32" name="Text 30"/>
          <p:cNvSpPr/>
          <p:nvPr/>
        </p:nvSpPr>
        <p:spPr>
          <a:xfrm>
            <a:off x="457200" y="6537960"/>
            <a:ext cx="8686800"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Source: Shared Metric Recommendations (D4); Survey Crosswalk Workbook (D3), Sheet 6</a:t>
            </a:r>
            <a:endParaRPr lang="en-US" sz="900" dirty="0"/>
          </a:p>
        </p:txBody>
      </p:sp>
      <p:sp>
        <p:nvSpPr>
          <p:cNvPr id="33" name="Text 31"/>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marL="0" indent="0">
              <a:buNone/>
            </a:pPr>
            <a:r>
              <a:rPr lang="en-US" sz="1250" b="1" kern="0" spc="150" dirty="0">
                <a:solidFill>
                  <a:srgbClr val="B8860B"/>
                </a:solidFill>
                <a:latin typeface="Calibri" pitchFamily="34" charset="0"/>
                <a:ea typeface="Calibri" pitchFamily="34" charset="-122"/>
                <a:cs typeface="Calibri" pitchFamily="34" charset="-120"/>
              </a:rPr>
              <a:t>PRIMARY RECOMMENDATION</a:t>
            </a:r>
            <a:endParaRPr lang="en-US" sz="1250" dirty="0"/>
          </a:p>
        </p:txBody>
      </p:sp>
      <p:sp>
        <p:nvSpPr>
          <p:cNvPr id="3" name="Text 1"/>
          <p:cNvSpPr/>
          <p:nvPr/>
        </p:nvSpPr>
        <p:spPr>
          <a:xfrm>
            <a:off x="502920" y="685800"/>
            <a:ext cx="11155680" cy="777240"/>
          </a:xfrm>
          <a:prstGeom prst="rect">
            <a:avLst/>
          </a:prstGeom>
          <a:noFill/>
          <a:ln/>
        </p:spPr>
        <p:txBody>
          <a:bodyPr wrap="square" rtlCol="0" anchor="ctr"/>
          <a:lstStyle/>
          <a:p>
            <a:pPr marL="0" indent="0">
              <a:buNone/>
            </a:pPr>
            <a:r>
              <a:rPr lang="en-US" sz="2900" b="1" dirty="0">
                <a:solidFill>
                  <a:srgbClr val="1B3A5C"/>
                </a:solidFill>
                <a:latin typeface="Cambria" pitchFamily="34" charset="0"/>
                <a:ea typeface="Cambria" pitchFamily="34" charset="-122"/>
                <a:cs typeface="Cambria" pitchFamily="34" charset="-120"/>
              </a:rPr>
              <a:t>Persistent sadness and hopelessness</a:t>
            </a:r>
            <a:endParaRPr lang="en-US" sz="2900" dirty="0"/>
          </a:p>
        </p:txBody>
      </p:sp>
      <p:sp>
        <p:nvSpPr>
          <p:cNvPr id="4" name="Text 2"/>
          <p:cNvSpPr/>
          <p:nvPr/>
        </p:nvSpPr>
        <p:spPr>
          <a:xfrm>
            <a:off x="502920" y="1508760"/>
            <a:ext cx="5760720" cy="1005840"/>
          </a:xfrm>
          <a:prstGeom prst="rect">
            <a:avLst/>
          </a:prstGeom>
          <a:noFill/>
          <a:ln/>
        </p:spPr>
        <p:txBody>
          <a:bodyPr wrap="square" rtlCol="0" anchor="ctr"/>
          <a:lstStyle/>
          <a:p>
            <a:pPr marL="0" indent="0">
              <a:lnSpc>
                <a:spcPts val="1900"/>
              </a:lnSpc>
              <a:buNone/>
            </a:pPr>
            <a:r>
              <a:rPr lang="en-US" sz="1350" dirty="0">
                <a:solidFill>
                  <a:srgbClr val="1B3A5C"/>
                </a:solidFill>
                <a:latin typeface="Calibri" pitchFamily="34" charset="0"/>
                <a:ea typeface="Calibri" pitchFamily="34" charset="-122"/>
                <a:cs typeface="Calibri" pitchFamily="34" charset="-120"/>
              </a:rPr>
              <a:t>Add the exact HKCS question, unchanged, to all three district surveys: in the past 12 months, did a student feel so sad or hopeless almost every day for two weeks or more that they stopped doing usual activities.</a:t>
            </a:r>
            <a:endParaRPr lang="en-US" sz="1350" dirty="0"/>
          </a:p>
        </p:txBody>
      </p:sp>
      <p:sp>
        <p:nvSpPr>
          <p:cNvPr id="5" name="Shape 3"/>
          <p:cNvSpPr/>
          <p:nvPr/>
        </p:nvSpPr>
        <p:spPr>
          <a:xfrm>
            <a:off x="502920" y="2697480"/>
            <a:ext cx="320040" cy="320040"/>
          </a:xfrm>
          <a:prstGeom prst="ellipse">
            <a:avLst/>
          </a:prstGeom>
          <a:solidFill>
            <a:srgbClr val="B8860B"/>
          </a:solidFill>
          <a:ln/>
        </p:spPr>
        <p:txBody>
          <a:bodyPr/>
          <a:lstStyle/>
          <a:p>
            <a:endParaRPr lang="en-US"/>
          </a:p>
        </p:txBody>
      </p:sp>
      <p:sp>
        <p:nvSpPr>
          <p:cNvPr id="6" name="Text 4"/>
          <p:cNvSpPr/>
          <p:nvPr/>
        </p:nvSpPr>
        <p:spPr>
          <a:xfrm>
            <a:off x="502920" y="2697480"/>
            <a:ext cx="320040" cy="32004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960120" y="2660904"/>
            <a:ext cx="5303520" cy="594360"/>
          </a:xfrm>
          <a:prstGeom prst="rect">
            <a:avLst/>
          </a:prstGeom>
          <a:noFill/>
          <a:ln/>
        </p:spPr>
        <p:txBody>
          <a:bodyPr wrap="square" rtlCol="0" anchor="ctr"/>
          <a:lstStyle/>
          <a:p>
            <a:pPr marL="0" indent="0">
              <a:lnSpc>
                <a:spcPts val="1500"/>
              </a:lnSpc>
              <a:buNone/>
            </a:pPr>
            <a:r>
              <a:rPr lang="en-US" sz="1200" dirty="0">
                <a:solidFill>
                  <a:srgbClr val="1B3A5C"/>
                </a:solidFill>
                <a:latin typeface="Calibri" pitchFamily="34" charset="0"/>
                <a:ea typeface="Calibri" pitchFamily="34" charset="-122"/>
                <a:cs typeface="Calibri" pitchFamily="34" charset="-120"/>
              </a:rPr>
              <a:t>Longest, most consistent trend line of any HKCS indicator — proof the item responds to real change.</a:t>
            </a:r>
            <a:endParaRPr lang="en-US" sz="1200" dirty="0"/>
          </a:p>
        </p:txBody>
      </p:sp>
      <p:sp>
        <p:nvSpPr>
          <p:cNvPr id="8" name="Shape 6"/>
          <p:cNvSpPr/>
          <p:nvPr/>
        </p:nvSpPr>
        <p:spPr>
          <a:xfrm>
            <a:off x="502920" y="3447288"/>
            <a:ext cx="320040" cy="320040"/>
          </a:xfrm>
          <a:prstGeom prst="ellipse">
            <a:avLst/>
          </a:prstGeom>
          <a:solidFill>
            <a:srgbClr val="B8860B"/>
          </a:solidFill>
          <a:ln/>
        </p:spPr>
        <p:txBody>
          <a:bodyPr/>
          <a:lstStyle/>
          <a:p>
            <a:endParaRPr lang="en-US"/>
          </a:p>
        </p:txBody>
      </p:sp>
      <p:sp>
        <p:nvSpPr>
          <p:cNvPr id="9" name="Text 7"/>
          <p:cNvSpPr/>
          <p:nvPr/>
        </p:nvSpPr>
        <p:spPr>
          <a:xfrm>
            <a:off x="502920" y="3447288"/>
            <a:ext cx="320040" cy="32004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0" name="Text 8"/>
          <p:cNvSpPr/>
          <p:nvPr/>
        </p:nvSpPr>
        <p:spPr>
          <a:xfrm>
            <a:off x="960120" y="3410712"/>
            <a:ext cx="5303520" cy="594360"/>
          </a:xfrm>
          <a:prstGeom prst="rect">
            <a:avLst/>
          </a:prstGeom>
          <a:noFill/>
          <a:ln/>
        </p:spPr>
        <p:txBody>
          <a:bodyPr wrap="square" rtlCol="0" anchor="ctr"/>
          <a:lstStyle/>
          <a:p>
            <a:pPr marL="0" indent="0">
              <a:lnSpc>
                <a:spcPts val="1500"/>
              </a:lnSpc>
              <a:buNone/>
            </a:pPr>
            <a:r>
              <a:rPr lang="en-US" sz="1200" dirty="0">
                <a:solidFill>
                  <a:srgbClr val="1B3A5C"/>
                </a:solidFill>
                <a:latin typeface="Calibri" pitchFamily="34" charset="0"/>
                <a:ea typeface="Calibri" pitchFamily="34" charset="-122"/>
                <a:cs typeface="Calibri" pitchFamily="34" charset="-120"/>
              </a:rPr>
              <a:t>Captures exactly the population current systems miss: students with internalizing struggles, not disruptive behavior.</a:t>
            </a:r>
            <a:endParaRPr lang="en-US" sz="1200" dirty="0"/>
          </a:p>
        </p:txBody>
      </p:sp>
      <p:sp>
        <p:nvSpPr>
          <p:cNvPr id="11" name="Shape 9"/>
          <p:cNvSpPr/>
          <p:nvPr/>
        </p:nvSpPr>
        <p:spPr>
          <a:xfrm>
            <a:off x="502920" y="4197096"/>
            <a:ext cx="320040" cy="320040"/>
          </a:xfrm>
          <a:prstGeom prst="ellipse">
            <a:avLst/>
          </a:prstGeom>
          <a:solidFill>
            <a:srgbClr val="B8860B"/>
          </a:solidFill>
          <a:ln/>
        </p:spPr>
        <p:txBody>
          <a:bodyPr/>
          <a:lstStyle/>
          <a:p>
            <a:endParaRPr lang="en-US"/>
          </a:p>
        </p:txBody>
      </p:sp>
      <p:sp>
        <p:nvSpPr>
          <p:cNvPr id="12" name="Text 10"/>
          <p:cNvSpPr/>
          <p:nvPr/>
        </p:nvSpPr>
        <p:spPr>
          <a:xfrm>
            <a:off x="502920" y="4197096"/>
            <a:ext cx="320040" cy="32004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3" name="Text 11"/>
          <p:cNvSpPr/>
          <p:nvPr/>
        </p:nvSpPr>
        <p:spPr>
          <a:xfrm>
            <a:off x="960120" y="4160520"/>
            <a:ext cx="5303520" cy="594360"/>
          </a:xfrm>
          <a:prstGeom prst="rect">
            <a:avLst/>
          </a:prstGeom>
          <a:noFill/>
          <a:ln/>
        </p:spPr>
        <p:txBody>
          <a:bodyPr wrap="square" rtlCol="0" anchor="ctr"/>
          <a:lstStyle/>
          <a:p>
            <a:pPr marL="0" indent="0">
              <a:lnSpc>
                <a:spcPts val="1500"/>
              </a:lnSpc>
              <a:buNone/>
            </a:pPr>
            <a:r>
              <a:rPr lang="en-US" sz="1200" dirty="0">
                <a:solidFill>
                  <a:srgbClr val="1B3A5C"/>
                </a:solidFill>
                <a:latin typeface="Calibri" pitchFamily="34" charset="0"/>
                <a:ea typeface="Calibri" pitchFamily="34" charset="-122"/>
                <a:cs typeface="Calibri" pitchFamily="34" charset="-120"/>
              </a:rPr>
              <a:t>Wording is already field-tested through three HKCS cycles, so data is comparable from year one.</a:t>
            </a:r>
            <a:endParaRPr lang="en-US" sz="1200" dirty="0"/>
          </a:p>
        </p:txBody>
      </p:sp>
      <p:graphicFrame>
        <p:nvGraphicFramePr>
          <p:cNvPr id="14" name="Chart 0"/>
          <p:cNvGraphicFramePr/>
          <p:nvPr/>
        </p:nvGraphicFramePr>
        <p:xfrm>
          <a:off x="6355080" y="1417320"/>
          <a:ext cx="5303520"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15" name="Shape 12"/>
          <p:cNvSpPr/>
          <p:nvPr/>
        </p:nvSpPr>
        <p:spPr>
          <a:xfrm>
            <a:off x="6355080" y="3977640"/>
            <a:ext cx="5303520" cy="2057400"/>
          </a:xfrm>
          <a:prstGeom prst="roundRect">
            <a:avLst>
              <a:gd name="adj" fmla="val 3556"/>
            </a:avLst>
          </a:prstGeom>
          <a:solidFill>
            <a:srgbClr val="FBEAEA"/>
          </a:solidFill>
          <a:ln/>
        </p:spPr>
        <p:txBody>
          <a:bodyPr/>
          <a:lstStyle/>
          <a:p>
            <a:endParaRPr lang="en-US"/>
          </a:p>
        </p:txBody>
      </p:sp>
      <p:sp>
        <p:nvSpPr>
          <p:cNvPr id="16" name="Text 13"/>
          <p:cNvSpPr/>
          <p:nvPr/>
        </p:nvSpPr>
        <p:spPr>
          <a:xfrm>
            <a:off x="6629400" y="4160520"/>
            <a:ext cx="4754880" cy="320040"/>
          </a:xfrm>
          <a:prstGeom prst="rect">
            <a:avLst/>
          </a:prstGeom>
          <a:noFill/>
          <a:ln/>
        </p:spPr>
        <p:txBody>
          <a:bodyPr wrap="square" rtlCol="0" anchor="ctr"/>
          <a:lstStyle/>
          <a:p>
            <a:pPr marL="0" indent="0">
              <a:buNone/>
            </a:pPr>
            <a:r>
              <a:rPr lang="en-US" sz="1150" b="1" kern="0" spc="100" dirty="0">
                <a:solidFill>
                  <a:srgbClr val="B23A48"/>
                </a:solidFill>
                <a:latin typeface="Calibri" pitchFamily="34" charset="0"/>
                <a:ea typeface="Calibri" pitchFamily="34" charset="-122"/>
                <a:cs typeface="Calibri" pitchFamily="34" charset="-120"/>
              </a:rPr>
              <a:t>2023 EQUITY BREAKDOWN</a:t>
            </a:r>
            <a:endParaRPr lang="en-US" sz="1150" dirty="0"/>
          </a:p>
        </p:txBody>
      </p:sp>
      <p:sp>
        <p:nvSpPr>
          <p:cNvPr id="17" name="Text 14"/>
          <p:cNvSpPr/>
          <p:nvPr/>
        </p:nvSpPr>
        <p:spPr>
          <a:xfrm>
            <a:off x="6629400" y="4526280"/>
            <a:ext cx="4754880" cy="1417320"/>
          </a:xfrm>
          <a:prstGeom prst="rect">
            <a:avLst/>
          </a:prstGeom>
          <a:noFill/>
          <a:ln/>
        </p:spPr>
        <p:txBody>
          <a:bodyPr wrap="square" rtlCol="0" anchor="ctr"/>
          <a:lstStyle/>
          <a:p>
            <a:pPr marL="0" indent="0">
              <a:lnSpc>
                <a:spcPts val="1600"/>
              </a:lnSpc>
              <a:buNone/>
            </a:pPr>
            <a:r>
              <a:rPr lang="en-US" sz="1200" dirty="0">
                <a:solidFill>
                  <a:srgbClr val="1B3A5C"/>
                </a:solidFill>
                <a:latin typeface="Calibri" pitchFamily="34" charset="0"/>
                <a:ea typeface="Calibri" pitchFamily="34" charset="-122"/>
                <a:cs typeface="Calibri" pitchFamily="34" charset="-120"/>
              </a:rPr>
              <a:t>Overall: 25.2%   |   Female: 31.3%</a:t>
            </a:r>
            <a:endParaRPr lang="en-US" sz="1200" dirty="0"/>
          </a:p>
          <a:p>
            <a:pPr marL="0" indent="0">
              <a:lnSpc>
                <a:spcPts val="1600"/>
              </a:lnSpc>
              <a:buNone/>
            </a:pPr>
            <a:r>
              <a:rPr lang="en-US" sz="1200" dirty="0">
                <a:solidFill>
                  <a:srgbClr val="1B3A5C"/>
                </a:solidFill>
                <a:latin typeface="Calibri" pitchFamily="34" charset="0"/>
                <a:ea typeface="Calibri" pitchFamily="34" charset="-122"/>
                <a:cs typeface="Calibri" pitchFamily="34" charset="-120"/>
              </a:rPr>
              <a:t>Hispanic/Latino: 29.6%   |   Transgender: 66.4%</a:t>
            </a:r>
            <a:endParaRPr lang="en-US" sz="1200" dirty="0"/>
          </a:p>
          <a:p>
            <a:pPr marL="0" indent="0">
              <a:lnSpc>
                <a:spcPts val="1600"/>
              </a:lnSpc>
              <a:buNone/>
            </a:pPr>
            <a:endParaRPr lang="en-US" sz="1200" dirty="0"/>
          </a:p>
          <a:p>
            <a:pPr marL="0" indent="0">
              <a:lnSpc>
                <a:spcPts val="1600"/>
              </a:lnSpc>
              <a:buNone/>
            </a:pPr>
            <a:r>
              <a:rPr lang="en-US" sz="1200" dirty="0">
                <a:solidFill>
                  <a:srgbClr val="1B3A5C"/>
                </a:solidFill>
                <a:latin typeface="Calibri" pitchFamily="34" charset="0"/>
                <a:ea typeface="Calibri" pitchFamily="34" charset="-122"/>
                <a:cs typeface="Calibri" pitchFamily="34" charset="-120"/>
              </a:rPr>
              <a:t>The gap between the county figure and the transgender figure is over 40 points — in the same county, same survey, same year.</a:t>
            </a:r>
            <a:endParaRPr lang="en-US" sz="1200" dirty="0"/>
          </a:p>
        </p:txBody>
      </p:sp>
      <p:sp>
        <p:nvSpPr>
          <p:cNvPr id="18" name="Text 15"/>
          <p:cNvSpPr/>
          <p:nvPr/>
        </p:nvSpPr>
        <p:spPr>
          <a:xfrm>
            <a:off x="457200" y="6537960"/>
            <a:ext cx="8686800"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Source: HKCS High School Region 2 Report, Table 35; Deliverable 4; Crosswalk Workbook Sheet 5</a:t>
            </a:r>
            <a:endParaRPr lang="en-US" sz="900" dirty="0"/>
          </a:p>
        </p:txBody>
      </p:sp>
      <p:sp>
        <p:nvSpPr>
          <p:cNvPr id="19" name="Text 16"/>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marL="0" indent="0">
              <a:buNone/>
            </a:pPr>
            <a:r>
              <a:rPr lang="en-US" sz="1250" b="1" kern="0" spc="150" dirty="0">
                <a:solidFill>
                  <a:srgbClr val="2066A8"/>
                </a:solidFill>
                <a:latin typeface="Calibri" pitchFamily="34" charset="0"/>
                <a:ea typeface="Calibri" pitchFamily="34" charset="-122"/>
                <a:cs typeface="Calibri" pitchFamily="34" charset="-120"/>
              </a:rPr>
              <a:t>GETTING THERE</a:t>
            </a:r>
            <a:endParaRPr lang="en-US" sz="1250" dirty="0"/>
          </a:p>
        </p:txBody>
      </p:sp>
      <p:sp>
        <p:nvSpPr>
          <p:cNvPr id="3" name="Text 1"/>
          <p:cNvSpPr/>
          <p:nvPr/>
        </p:nvSpPr>
        <p:spPr>
          <a:xfrm>
            <a:off x="502920" y="685800"/>
            <a:ext cx="11155680" cy="777240"/>
          </a:xfrm>
          <a:prstGeom prst="rect">
            <a:avLst/>
          </a:prstGeom>
          <a:noFill/>
          <a:ln/>
        </p:spPr>
        <p:txBody>
          <a:bodyPr wrap="square" rtlCol="0" anchor="ctr"/>
          <a:lstStyle/>
          <a:p>
            <a:pPr marL="0" indent="0">
              <a:buNone/>
            </a:pPr>
            <a:r>
              <a:rPr lang="en-US" sz="2900" b="1" dirty="0">
                <a:solidFill>
                  <a:srgbClr val="1B3A5C"/>
                </a:solidFill>
                <a:latin typeface="Cambria" pitchFamily="34" charset="0"/>
                <a:ea typeface="Cambria" pitchFamily="34" charset="-122"/>
                <a:cs typeface="Cambria" pitchFamily="34" charset="-120"/>
              </a:rPr>
              <a:t>A phased path, not a mandate</a:t>
            </a:r>
            <a:endParaRPr lang="en-US" sz="2900" dirty="0"/>
          </a:p>
        </p:txBody>
      </p:sp>
      <p:sp>
        <p:nvSpPr>
          <p:cNvPr id="4" name="Text 2"/>
          <p:cNvSpPr/>
          <p:nvPr/>
        </p:nvSpPr>
        <p:spPr>
          <a:xfrm>
            <a:off x="502920" y="1417320"/>
            <a:ext cx="11155680" cy="594360"/>
          </a:xfrm>
          <a:prstGeom prst="rect">
            <a:avLst/>
          </a:prstGeom>
          <a:noFill/>
          <a:ln/>
        </p:spPr>
        <p:txBody>
          <a:bodyPr wrap="square" rtlCol="0" anchor="ctr"/>
          <a:lstStyle/>
          <a:p>
            <a:pPr marL="0" indent="0">
              <a:lnSpc>
                <a:spcPts val="1700"/>
              </a:lnSpc>
              <a:buNone/>
            </a:pPr>
            <a:r>
              <a:rPr lang="en-US" sz="1250" dirty="0">
                <a:solidFill>
                  <a:srgbClr val="1B3A5C"/>
                </a:solidFill>
                <a:latin typeface="Calibri" pitchFamily="34" charset="0"/>
                <a:ea typeface="Calibri" pitchFamily="34" charset="-122"/>
                <a:cs typeface="Calibri" pitchFamily="34" charset="-120"/>
              </a:rPr>
              <a:t>The MHSU Alliance’s role is to coordinate and support, consistent with the CO-MTSS regional framework  not to require. Each phase groups items by what is realistic for districts against what needs trauma-informed protocols in place first.</a:t>
            </a:r>
            <a:endParaRPr lang="en-US" sz="1250" dirty="0"/>
          </a:p>
        </p:txBody>
      </p:sp>
      <p:sp>
        <p:nvSpPr>
          <p:cNvPr id="5" name="Shape 3"/>
          <p:cNvSpPr/>
          <p:nvPr/>
        </p:nvSpPr>
        <p:spPr>
          <a:xfrm>
            <a:off x="502920" y="2148840"/>
            <a:ext cx="1737360" cy="1005840"/>
          </a:xfrm>
          <a:prstGeom prst="roundRect">
            <a:avLst>
              <a:gd name="adj" fmla="val 5455"/>
            </a:avLst>
          </a:prstGeom>
          <a:solidFill>
            <a:srgbClr val="2066A8"/>
          </a:solidFill>
          <a:ln/>
        </p:spPr>
        <p:txBody>
          <a:bodyPr/>
          <a:lstStyle/>
          <a:p>
            <a:endParaRPr lang="en-US"/>
          </a:p>
        </p:txBody>
      </p:sp>
      <p:sp>
        <p:nvSpPr>
          <p:cNvPr id="6" name="Text 4"/>
          <p:cNvSpPr/>
          <p:nvPr/>
        </p:nvSpPr>
        <p:spPr>
          <a:xfrm>
            <a:off x="502920" y="2276856"/>
            <a:ext cx="17373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PHASE 1</a:t>
            </a:r>
            <a:endParaRPr lang="en-US" sz="1200" dirty="0"/>
          </a:p>
        </p:txBody>
      </p:sp>
      <p:sp>
        <p:nvSpPr>
          <p:cNvPr id="7" name="Text 5"/>
          <p:cNvSpPr/>
          <p:nvPr/>
        </p:nvSpPr>
        <p:spPr>
          <a:xfrm>
            <a:off x="594360" y="2587752"/>
            <a:ext cx="1554480" cy="530352"/>
          </a:xfrm>
          <a:prstGeom prst="rect">
            <a:avLst/>
          </a:prstGeom>
          <a:noFill/>
          <a:ln/>
        </p:spPr>
        <p:txBody>
          <a:bodyPr wrap="square" rtlCol="0" anchor="ctr"/>
          <a:lstStyle/>
          <a:p>
            <a:pPr marL="0" indent="0" algn="ctr">
              <a:lnSpc>
                <a:spcPts val="1200"/>
              </a:lnSpc>
              <a:buNone/>
            </a:pPr>
            <a:r>
              <a:rPr lang="en-US" sz="1000" dirty="0">
                <a:solidFill>
                  <a:srgbClr val="FFFFFF"/>
                </a:solidFill>
                <a:latin typeface="Calibri" pitchFamily="34" charset="0"/>
                <a:ea typeface="Calibri" pitchFamily="34" charset="-122"/>
                <a:cs typeface="Calibri" pitchFamily="34" charset="-120"/>
              </a:rPr>
              <a:t>2026–27, Ready Now</a:t>
            </a:r>
            <a:endParaRPr lang="en-US" sz="1000" dirty="0"/>
          </a:p>
        </p:txBody>
      </p:sp>
      <p:sp>
        <p:nvSpPr>
          <p:cNvPr id="8" name="Shape 6"/>
          <p:cNvSpPr/>
          <p:nvPr/>
        </p:nvSpPr>
        <p:spPr>
          <a:xfrm>
            <a:off x="2423160" y="2148840"/>
            <a:ext cx="9235440" cy="1005840"/>
          </a:xfrm>
          <a:prstGeom prst="roundRect">
            <a:avLst>
              <a:gd name="adj" fmla="val 5455"/>
            </a:avLst>
          </a:prstGeom>
          <a:solidFill>
            <a:srgbClr val="E8EEF4"/>
          </a:solidFill>
          <a:ln/>
        </p:spPr>
        <p:txBody>
          <a:bodyPr/>
          <a:lstStyle/>
          <a:p>
            <a:endParaRPr lang="en-US"/>
          </a:p>
        </p:txBody>
      </p:sp>
      <p:sp>
        <p:nvSpPr>
          <p:cNvPr id="9" name="Text 7"/>
          <p:cNvSpPr/>
          <p:nvPr/>
        </p:nvSpPr>
        <p:spPr>
          <a:xfrm>
            <a:off x="2651760" y="2148840"/>
            <a:ext cx="8778240" cy="1005840"/>
          </a:xfrm>
          <a:prstGeom prst="rect">
            <a:avLst/>
          </a:prstGeom>
          <a:noFill/>
          <a:ln/>
        </p:spPr>
        <p:txBody>
          <a:bodyPr wrap="square" rtlCol="0" anchor="ctr"/>
          <a:lstStyle/>
          <a:p>
            <a:pPr marL="0" indent="0">
              <a:lnSpc>
                <a:spcPts val="1600"/>
              </a:lnSpc>
              <a:buNone/>
            </a:pPr>
            <a:r>
              <a:rPr lang="en-US" sz="1200" dirty="0">
                <a:solidFill>
                  <a:srgbClr val="1B3A5C"/>
                </a:solidFill>
                <a:latin typeface="Calibri" pitchFamily="34" charset="0"/>
                <a:ea typeface="Calibri" pitchFamily="34" charset="-122"/>
                <a:cs typeface="Calibri" pitchFamily="34" charset="-120"/>
              </a:rPr>
              <a:t>Stress manageability (EPSD, TSD) • Trusted adult (TSD) • School safety (EPSD) • Belonging, standardized (all three)</a:t>
            </a:r>
            <a:endParaRPr lang="en-US" sz="1200" dirty="0"/>
          </a:p>
        </p:txBody>
      </p:sp>
      <p:sp>
        <p:nvSpPr>
          <p:cNvPr id="10" name="Shape 8"/>
          <p:cNvSpPr/>
          <p:nvPr/>
        </p:nvSpPr>
        <p:spPr>
          <a:xfrm>
            <a:off x="1298448" y="3154680"/>
            <a:ext cx="54864" cy="292608"/>
          </a:xfrm>
          <a:prstGeom prst="rect">
            <a:avLst/>
          </a:prstGeom>
          <a:solidFill>
            <a:srgbClr val="D7E0E8"/>
          </a:solidFill>
          <a:ln/>
        </p:spPr>
        <p:txBody>
          <a:bodyPr/>
          <a:lstStyle/>
          <a:p>
            <a:endParaRPr lang="en-US"/>
          </a:p>
        </p:txBody>
      </p:sp>
      <p:sp>
        <p:nvSpPr>
          <p:cNvPr id="11" name="Shape 9"/>
          <p:cNvSpPr/>
          <p:nvPr/>
        </p:nvSpPr>
        <p:spPr>
          <a:xfrm>
            <a:off x="502920" y="3447288"/>
            <a:ext cx="1737360" cy="1005840"/>
          </a:xfrm>
          <a:prstGeom prst="roundRect">
            <a:avLst>
              <a:gd name="adj" fmla="val 5455"/>
            </a:avLst>
          </a:prstGeom>
          <a:solidFill>
            <a:srgbClr val="B8860B"/>
          </a:solidFill>
          <a:ln/>
        </p:spPr>
        <p:txBody>
          <a:bodyPr/>
          <a:lstStyle/>
          <a:p>
            <a:endParaRPr lang="en-US"/>
          </a:p>
        </p:txBody>
      </p:sp>
      <p:sp>
        <p:nvSpPr>
          <p:cNvPr id="12" name="Text 10"/>
          <p:cNvSpPr/>
          <p:nvPr/>
        </p:nvSpPr>
        <p:spPr>
          <a:xfrm>
            <a:off x="502920" y="3575304"/>
            <a:ext cx="17373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PHASE 2</a:t>
            </a:r>
            <a:endParaRPr lang="en-US" sz="1200" dirty="0"/>
          </a:p>
        </p:txBody>
      </p:sp>
      <p:sp>
        <p:nvSpPr>
          <p:cNvPr id="13" name="Text 11"/>
          <p:cNvSpPr/>
          <p:nvPr/>
        </p:nvSpPr>
        <p:spPr>
          <a:xfrm>
            <a:off x="594360" y="3886200"/>
            <a:ext cx="1554480" cy="530352"/>
          </a:xfrm>
          <a:prstGeom prst="rect">
            <a:avLst/>
          </a:prstGeom>
          <a:noFill/>
          <a:ln/>
        </p:spPr>
        <p:txBody>
          <a:bodyPr wrap="square" rtlCol="0" anchor="ctr"/>
          <a:lstStyle/>
          <a:p>
            <a:pPr marL="0" indent="0" algn="ctr">
              <a:lnSpc>
                <a:spcPts val="1200"/>
              </a:lnSpc>
              <a:buNone/>
            </a:pPr>
            <a:r>
              <a:rPr lang="en-US" sz="1000" dirty="0">
                <a:solidFill>
                  <a:srgbClr val="FFFFFF"/>
                </a:solidFill>
                <a:latin typeface="Calibri" pitchFamily="34" charset="0"/>
                <a:ea typeface="Calibri" pitchFamily="34" charset="-122"/>
                <a:cs typeface="Calibri" pitchFamily="34" charset="-120"/>
              </a:rPr>
              <a:t>With Trauma-Informed Protocols</a:t>
            </a:r>
            <a:endParaRPr lang="en-US" sz="1000" dirty="0"/>
          </a:p>
        </p:txBody>
      </p:sp>
      <p:sp>
        <p:nvSpPr>
          <p:cNvPr id="14" name="Shape 12"/>
          <p:cNvSpPr/>
          <p:nvPr/>
        </p:nvSpPr>
        <p:spPr>
          <a:xfrm>
            <a:off x="2423160" y="3447288"/>
            <a:ext cx="9235440" cy="1005840"/>
          </a:xfrm>
          <a:prstGeom prst="roundRect">
            <a:avLst>
              <a:gd name="adj" fmla="val 5455"/>
            </a:avLst>
          </a:prstGeom>
          <a:solidFill>
            <a:srgbClr val="E8EEF4"/>
          </a:solidFill>
          <a:ln/>
        </p:spPr>
        <p:txBody>
          <a:bodyPr/>
          <a:lstStyle/>
          <a:p>
            <a:endParaRPr lang="en-US"/>
          </a:p>
        </p:txBody>
      </p:sp>
      <p:sp>
        <p:nvSpPr>
          <p:cNvPr id="15" name="Text 13"/>
          <p:cNvSpPr/>
          <p:nvPr/>
        </p:nvSpPr>
        <p:spPr>
          <a:xfrm>
            <a:off x="2651760" y="3447288"/>
            <a:ext cx="8778240" cy="1005840"/>
          </a:xfrm>
          <a:prstGeom prst="rect">
            <a:avLst/>
          </a:prstGeom>
          <a:noFill/>
          <a:ln/>
        </p:spPr>
        <p:txBody>
          <a:bodyPr wrap="square" rtlCol="0" anchor="ctr"/>
          <a:lstStyle/>
          <a:p>
            <a:pPr marL="0" indent="0">
              <a:lnSpc>
                <a:spcPts val="1600"/>
              </a:lnSpc>
              <a:buNone/>
            </a:pPr>
            <a:r>
              <a:rPr lang="en-US" sz="1200" dirty="0">
                <a:solidFill>
                  <a:srgbClr val="1B3A5C"/>
                </a:solidFill>
                <a:latin typeface="Calibri" pitchFamily="34" charset="0"/>
                <a:ea typeface="Calibri" pitchFamily="34" charset="-122"/>
                <a:cs typeface="Calibri" pitchFamily="34" charset="-120"/>
              </a:rPr>
              <a:t>Persistent sadness &amp; hopelessness (all three) • Poor mental health frequency (all three) • Experiences of racism (all three)</a:t>
            </a:r>
            <a:endParaRPr lang="en-US" sz="1200" dirty="0"/>
          </a:p>
        </p:txBody>
      </p:sp>
      <p:sp>
        <p:nvSpPr>
          <p:cNvPr id="16" name="Shape 14"/>
          <p:cNvSpPr/>
          <p:nvPr/>
        </p:nvSpPr>
        <p:spPr>
          <a:xfrm>
            <a:off x="1298448" y="4453128"/>
            <a:ext cx="54864" cy="292608"/>
          </a:xfrm>
          <a:prstGeom prst="rect">
            <a:avLst/>
          </a:prstGeom>
          <a:solidFill>
            <a:srgbClr val="D7E0E8"/>
          </a:solidFill>
          <a:ln/>
        </p:spPr>
        <p:txBody>
          <a:bodyPr/>
          <a:lstStyle/>
          <a:p>
            <a:endParaRPr lang="en-US"/>
          </a:p>
        </p:txBody>
      </p:sp>
      <p:sp>
        <p:nvSpPr>
          <p:cNvPr id="17" name="Shape 15"/>
          <p:cNvSpPr/>
          <p:nvPr/>
        </p:nvSpPr>
        <p:spPr>
          <a:xfrm>
            <a:off x="502920" y="4745736"/>
            <a:ext cx="1737360" cy="1005840"/>
          </a:xfrm>
          <a:prstGeom prst="roundRect">
            <a:avLst>
              <a:gd name="adj" fmla="val 5455"/>
            </a:avLst>
          </a:prstGeom>
          <a:solidFill>
            <a:srgbClr val="1B3A5C"/>
          </a:solidFill>
          <a:ln/>
        </p:spPr>
        <p:txBody>
          <a:bodyPr/>
          <a:lstStyle/>
          <a:p>
            <a:endParaRPr lang="en-US"/>
          </a:p>
        </p:txBody>
      </p:sp>
      <p:sp>
        <p:nvSpPr>
          <p:cNvPr id="18" name="Text 16"/>
          <p:cNvSpPr/>
          <p:nvPr/>
        </p:nvSpPr>
        <p:spPr>
          <a:xfrm>
            <a:off x="502920" y="4873752"/>
            <a:ext cx="17373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PHASE 3</a:t>
            </a:r>
            <a:endParaRPr lang="en-US" sz="1200" dirty="0"/>
          </a:p>
        </p:txBody>
      </p:sp>
      <p:sp>
        <p:nvSpPr>
          <p:cNvPr id="19" name="Text 17"/>
          <p:cNvSpPr/>
          <p:nvPr/>
        </p:nvSpPr>
        <p:spPr>
          <a:xfrm>
            <a:off x="594360" y="5184648"/>
            <a:ext cx="1554480" cy="530352"/>
          </a:xfrm>
          <a:prstGeom prst="rect">
            <a:avLst/>
          </a:prstGeom>
          <a:noFill/>
          <a:ln/>
        </p:spPr>
        <p:txBody>
          <a:bodyPr wrap="square" rtlCol="0" anchor="ctr"/>
          <a:lstStyle/>
          <a:p>
            <a:pPr marL="0" indent="0" algn="ctr">
              <a:lnSpc>
                <a:spcPts val="1200"/>
              </a:lnSpc>
              <a:buNone/>
            </a:pPr>
            <a:r>
              <a:rPr lang="en-US" sz="1000" dirty="0">
                <a:solidFill>
                  <a:srgbClr val="FFFFFF"/>
                </a:solidFill>
                <a:latin typeface="Calibri" pitchFamily="34" charset="0"/>
                <a:ea typeface="Calibri" pitchFamily="34" charset="-122"/>
                <a:cs typeface="Calibri" pitchFamily="34" charset="-120"/>
              </a:rPr>
              <a:t>Following Phase 1, As Capacity Allows</a:t>
            </a:r>
            <a:endParaRPr lang="en-US" sz="1000" dirty="0"/>
          </a:p>
        </p:txBody>
      </p:sp>
      <p:sp>
        <p:nvSpPr>
          <p:cNvPr id="20" name="Shape 18"/>
          <p:cNvSpPr/>
          <p:nvPr/>
        </p:nvSpPr>
        <p:spPr>
          <a:xfrm>
            <a:off x="2423160" y="4745736"/>
            <a:ext cx="9235440" cy="1005840"/>
          </a:xfrm>
          <a:prstGeom prst="roundRect">
            <a:avLst>
              <a:gd name="adj" fmla="val 5455"/>
            </a:avLst>
          </a:prstGeom>
          <a:solidFill>
            <a:srgbClr val="E8EEF4"/>
          </a:solidFill>
          <a:ln/>
        </p:spPr>
        <p:txBody>
          <a:bodyPr/>
          <a:lstStyle/>
          <a:p>
            <a:endParaRPr lang="en-US"/>
          </a:p>
        </p:txBody>
      </p:sp>
      <p:sp>
        <p:nvSpPr>
          <p:cNvPr id="21" name="Text 19"/>
          <p:cNvSpPr/>
          <p:nvPr/>
        </p:nvSpPr>
        <p:spPr>
          <a:xfrm>
            <a:off x="2651760" y="4745736"/>
            <a:ext cx="8778240" cy="1005840"/>
          </a:xfrm>
          <a:prstGeom prst="rect">
            <a:avLst/>
          </a:prstGeom>
          <a:noFill/>
          <a:ln/>
        </p:spPr>
        <p:txBody>
          <a:bodyPr wrap="square" rtlCol="0" anchor="ctr"/>
          <a:lstStyle/>
          <a:p>
            <a:pPr marL="0" indent="0">
              <a:lnSpc>
                <a:spcPts val="1600"/>
              </a:lnSpc>
              <a:buNone/>
            </a:pPr>
            <a:r>
              <a:rPr lang="en-US" sz="1200" dirty="0">
                <a:solidFill>
                  <a:srgbClr val="1B3A5C"/>
                </a:solidFill>
                <a:latin typeface="Calibri" pitchFamily="34" charset="0"/>
                <a:ea typeface="Calibri" pitchFamily="34" charset="-122"/>
                <a:cs typeface="Calibri" pitchFamily="34" charset="-120"/>
              </a:rPr>
              <a:t>Help-seeking capacity (EPSD, TSD) • Food security (EPSD, TSD)</a:t>
            </a:r>
            <a:endParaRPr lang="en-US" sz="1200" dirty="0"/>
          </a:p>
        </p:txBody>
      </p:sp>
      <p:sp>
        <p:nvSpPr>
          <p:cNvPr id="22" name="Text 20"/>
          <p:cNvSpPr/>
          <p:nvPr/>
        </p:nvSpPr>
        <p:spPr>
          <a:xfrm>
            <a:off x="502920" y="6172200"/>
            <a:ext cx="11155680" cy="320040"/>
          </a:xfrm>
          <a:prstGeom prst="rect">
            <a:avLst/>
          </a:prstGeom>
          <a:noFill/>
          <a:ln/>
        </p:spPr>
        <p:txBody>
          <a:bodyPr wrap="square" rtlCol="0" anchor="ctr"/>
          <a:lstStyle/>
          <a:p>
            <a:pPr marL="0" indent="0">
              <a:buNone/>
            </a:pPr>
            <a:r>
              <a:rPr lang="en-US" sz="1150" i="1" dirty="0">
                <a:solidFill>
                  <a:srgbClr val="5A6B7A"/>
                </a:solidFill>
                <a:latin typeface="Calibri" pitchFamily="34" charset="0"/>
                <a:ea typeface="Calibri" pitchFamily="34" charset="-122"/>
                <a:cs typeface="Calibri" pitchFamily="34" charset="-120"/>
              </a:rPr>
              <a:t>Every item, in every phase, is reported disaggregated by race, language, gender identity, and income from the first administration.</a:t>
            </a:r>
            <a:endParaRPr lang="en-US" sz="1150" dirty="0"/>
          </a:p>
        </p:txBody>
      </p:sp>
      <p:sp>
        <p:nvSpPr>
          <p:cNvPr id="23" name="Text 21"/>
          <p:cNvSpPr/>
          <p:nvPr/>
        </p:nvSpPr>
        <p:spPr>
          <a:xfrm>
            <a:off x="457200" y="6537960"/>
            <a:ext cx="8686800"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Source: Deliverable 4, Implementation Phases</a:t>
            </a:r>
            <a:endParaRPr lang="en-US" sz="900" dirty="0"/>
          </a:p>
        </p:txBody>
      </p:sp>
      <p:sp>
        <p:nvSpPr>
          <p:cNvPr id="24" name="Text 22"/>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marL="0" indent="0">
              <a:buNone/>
            </a:pPr>
            <a:r>
              <a:rPr lang="en-US" sz="1250" b="1" kern="0" spc="150" dirty="0">
                <a:solidFill>
                  <a:srgbClr val="2066A8"/>
                </a:solidFill>
                <a:latin typeface="Calibri" pitchFamily="34" charset="0"/>
                <a:ea typeface="Calibri" pitchFamily="34" charset="-122"/>
                <a:cs typeface="Calibri" pitchFamily="34" charset="-120"/>
              </a:rPr>
              <a:t>DATA CONFIDENCE</a:t>
            </a:r>
            <a:endParaRPr lang="en-US" sz="1250" dirty="0"/>
          </a:p>
        </p:txBody>
      </p:sp>
      <p:sp>
        <p:nvSpPr>
          <p:cNvPr id="3" name="Text 1"/>
          <p:cNvSpPr/>
          <p:nvPr/>
        </p:nvSpPr>
        <p:spPr>
          <a:xfrm>
            <a:off x="502920" y="685800"/>
            <a:ext cx="11155680" cy="777240"/>
          </a:xfrm>
          <a:prstGeom prst="rect">
            <a:avLst/>
          </a:prstGeom>
          <a:noFill/>
          <a:ln/>
        </p:spPr>
        <p:txBody>
          <a:bodyPr wrap="square" rtlCol="0" anchor="ctr"/>
          <a:lstStyle/>
          <a:p>
            <a:pPr marL="0" indent="0">
              <a:buNone/>
            </a:pPr>
            <a:r>
              <a:rPr lang="en-US" sz="2900" b="1" dirty="0">
                <a:solidFill>
                  <a:srgbClr val="1B3A5C"/>
                </a:solidFill>
                <a:latin typeface="Cambria" pitchFamily="34" charset="0"/>
                <a:ea typeface="Cambria" pitchFamily="34" charset="-122"/>
                <a:cs typeface="Cambria" pitchFamily="34" charset="-120"/>
              </a:rPr>
              <a:t>What’s source-verified, and what still needs confirmation</a:t>
            </a:r>
            <a:endParaRPr lang="en-US" sz="2900" dirty="0"/>
          </a:p>
        </p:txBody>
      </p:sp>
      <p:sp>
        <p:nvSpPr>
          <p:cNvPr id="4" name="Text 2"/>
          <p:cNvSpPr/>
          <p:nvPr/>
        </p:nvSpPr>
        <p:spPr>
          <a:xfrm>
            <a:off x="502920" y="1417320"/>
            <a:ext cx="11155680" cy="502920"/>
          </a:xfrm>
          <a:prstGeom prst="rect">
            <a:avLst/>
          </a:prstGeom>
          <a:noFill/>
          <a:ln/>
        </p:spPr>
        <p:txBody>
          <a:bodyPr wrap="square" rtlCol="0" anchor="ctr"/>
          <a:lstStyle/>
          <a:p>
            <a:pPr marL="0" indent="0">
              <a:lnSpc>
                <a:spcPts val="1700"/>
              </a:lnSpc>
              <a:buNone/>
            </a:pPr>
            <a:r>
              <a:rPr lang="en-US" sz="1250" dirty="0">
                <a:solidFill>
                  <a:srgbClr val="1B3A5C"/>
                </a:solidFill>
                <a:latin typeface="Calibri" pitchFamily="34" charset="0"/>
                <a:ea typeface="Calibri" pitchFamily="34" charset="-122"/>
                <a:cs typeface="Calibri" pitchFamily="34" charset="-120"/>
              </a:rPr>
              <a:t>Every figure in this deck traces to a verified source. But a few methodological items are still open, and naming them now is more useful to this team than discovering them later.</a:t>
            </a:r>
            <a:endParaRPr lang="en-US" sz="1250" dirty="0"/>
          </a:p>
        </p:txBody>
      </p:sp>
      <p:sp>
        <p:nvSpPr>
          <p:cNvPr id="5" name="Shape 3"/>
          <p:cNvSpPr/>
          <p:nvPr/>
        </p:nvSpPr>
        <p:spPr>
          <a:xfrm>
            <a:off x="502920" y="2057400"/>
            <a:ext cx="5486400" cy="4160520"/>
          </a:xfrm>
          <a:prstGeom prst="roundRect">
            <a:avLst>
              <a:gd name="adj" fmla="val 1758"/>
            </a:avLst>
          </a:prstGeom>
          <a:solidFill>
            <a:srgbClr val="E8EEF4"/>
          </a:solidFill>
          <a:ln/>
        </p:spPr>
        <p:txBody>
          <a:bodyPr/>
          <a:lstStyle/>
          <a:p>
            <a:endParaRPr lang="en-US"/>
          </a:p>
        </p:txBody>
      </p:sp>
      <p:sp>
        <p:nvSpPr>
          <p:cNvPr id="6" name="Text 4"/>
          <p:cNvSpPr/>
          <p:nvPr/>
        </p:nvSpPr>
        <p:spPr>
          <a:xfrm>
            <a:off x="822960" y="2286000"/>
            <a:ext cx="4937760" cy="365760"/>
          </a:xfrm>
          <a:prstGeom prst="rect">
            <a:avLst/>
          </a:prstGeom>
          <a:noFill/>
          <a:ln/>
        </p:spPr>
        <p:txBody>
          <a:bodyPr wrap="square" rtlCol="0" anchor="ctr"/>
          <a:lstStyle/>
          <a:p>
            <a:pPr marL="0" indent="0">
              <a:buNone/>
            </a:pPr>
            <a:r>
              <a:rPr lang="en-US" sz="1250" b="1" kern="0" spc="100" dirty="0">
                <a:solidFill>
                  <a:srgbClr val="1B3A5C"/>
                </a:solidFill>
                <a:latin typeface="Calibri" pitchFamily="34" charset="0"/>
                <a:ea typeface="Calibri" pitchFamily="34" charset="-122"/>
                <a:cs typeface="Calibri" pitchFamily="34" charset="-120"/>
              </a:rPr>
              <a:t>CONFIRMED</a:t>
            </a:r>
            <a:endParaRPr lang="en-US" sz="1250" dirty="0"/>
          </a:p>
        </p:txBody>
      </p:sp>
      <p:sp>
        <p:nvSpPr>
          <p:cNvPr id="7" name="Shape 5"/>
          <p:cNvSpPr/>
          <p:nvPr/>
        </p:nvSpPr>
        <p:spPr>
          <a:xfrm>
            <a:off x="822960" y="2843784"/>
            <a:ext cx="91440" cy="91440"/>
          </a:xfrm>
          <a:prstGeom prst="line">
            <a:avLst/>
          </a:prstGeom>
          <a:solidFill>
            <a:srgbClr val="2066A8"/>
          </a:solidFill>
          <a:ln/>
        </p:spPr>
        <p:txBody>
          <a:bodyPr/>
          <a:lstStyle/>
          <a:p>
            <a:endParaRPr lang="en-US"/>
          </a:p>
        </p:txBody>
      </p:sp>
      <p:sp>
        <p:nvSpPr>
          <p:cNvPr id="8" name="Text 6"/>
          <p:cNvSpPr/>
          <p:nvPr/>
        </p:nvSpPr>
        <p:spPr>
          <a:xfrm>
            <a:off x="1051560" y="2715768"/>
            <a:ext cx="4800600" cy="685800"/>
          </a:xfrm>
          <a:prstGeom prst="rect">
            <a:avLst/>
          </a:prstGeom>
          <a:noFill/>
          <a:ln/>
        </p:spPr>
        <p:txBody>
          <a:bodyPr wrap="square" rtlCol="0" anchor="ctr"/>
          <a:lstStyle/>
          <a:p>
            <a:pPr marL="0" indent="0">
              <a:lnSpc>
                <a:spcPts val="1400"/>
              </a:lnSpc>
              <a:buNone/>
            </a:pPr>
            <a:r>
              <a:rPr lang="en-US" sz="1150" dirty="0">
                <a:solidFill>
                  <a:srgbClr val="1B3A5C"/>
                </a:solidFill>
                <a:latin typeface="Calibri" pitchFamily="34" charset="0"/>
                <a:ea typeface="Calibri" pitchFamily="34" charset="-122"/>
                <a:cs typeface="Calibri" pitchFamily="34" charset="-120"/>
              </a:rPr>
              <a:t>All 37 crosswalk constructs are coded from source-verified item text, not estimated.</a:t>
            </a:r>
            <a:endParaRPr lang="en-US" sz="1150" dirty="0"/>
          </a:p>
        </p:txBody>
      </p:sp>
      <p:sp>
        <p:nvSpPr>
          <p:cNvPr id="9" name="Shape 7"/>
          <p:cNvSpPr/>
          <p:nvPr/>
        </p:nvSpPr>
        <p:spPr>
          <a:xfrm>
            <a:off x="822960" y="3666744"/>
            <a:ext cx="91440" cy="91440"/>
          </a:xfrm>
          <a:prstGeom prst="line">
            <a:avLst/>
          </a:prstGeom>
          <a:solidFill>
            <a:srgbClr val="2066A8"/>
          </a:solidFill>
          <a:ln/>
        </p:spPr>
        <p:txBody>
          <a:bodyPr/>
          <a:lstStyle/>
          <a:p>
            <a:endParaRPr lang="en-US"/>
          </a:p>
        </p:txBody>
      </p:sp>
      <p:sp>
        <p:nvSpPr>
          <p:cNvPr id="10" name="Text 8"/>
          <p:cNvSpPr/>
          <p:nvPr/>
        </p:nvSpPr>
        <p:spPr>
          <a:xfrm>
            <a:off x="1051560" y="3538728"/>
            <a:ext cx="4800600" cy="685800"/>
          </a:xfrm>
          <a:prstGeom prst="rect">
            <a:avLst/>
          </a:prstGeom>
          <a:noFill/>
          <a:ln/>
        </p:spPr>
        <p:txBody>
          <a:bodyPr wrap="square" rtlCol="0" anchor="ctr"/>
          <a:lstStyle/>
          <a:p>
            <a:pPr marL="0" indent="0">
              <a:lnSpc>
                <a:spcPts val="1400"/>
              </a:lnSpc>
              <a:buNone/>
            </a:pPr>
            <a:r>
              <a:rPr lang="en-US" sz="1150" dirty="0">
                <a:solidFill>
                  <a:srgbClr val="1B3A5C"/>
                </a:solidFill>
                <a:latin typeface="Calibri" pitchFamily="34" charset="0"/>
                <a:ea typeface="Calibri" pitchFamily="34" charset="-122"/>
                <a:cs typeface="Calibri" pitchFamily="34" charset="-120"/>
              </a:rPr>
              <a:t>TSD Panorama and HKCS administration schedules, confirmed directly by Jennifer Guthals (TSD), June 30, 2026.</a:t>
            </a:r>
            <a:endParaRPr lang="en-US" sz="1150" dirty="0"/>
          </a:p>
        </p:txBody>
      </p:sp>
      <p:sp>
        <p:nvSpPr>
          <p:cNvPr id="11" name="Shape 9"/>
          <p:cNvSpPr/>
          <p:nvPr/>
        </p:nvSpPr>
        <p:spPr>
          <a:xfrm>
            <a:off x="822960" y="4489704"/>
            <a:ext cx="91440" cy="91440"/>
          </a:xfrm>
          <a:prstGeom prst="line">
            <a:avLst/>
          </a:prstGeom>
          <a:solidFill>
            <a:srgbClr val="2066A8"/>
          </a:solidFill>
          <a:ln/>
        </p:spPr>
        <p:txBody>
          <a:bodyPr/>
          <a:lstStyle/>
          <a:p>
            <a:endParaRPr lang="en-US"/>
          </a:p>
        </p:txBody>
      </p:sp>
      <p:sp>
        <p:nvSpPr>
          <p:cNvPr id="12" name="Text 10"/>
          <p:cNvSpPr/>
          <p:nvPr/>
        </p:nvSpPr>
        <p:spPr>
          <a:xfrm>
            <a:off x="1051560" y="4361688"/>
            <a:ext cx="4800600" cy="685800"/>
          </a:xfrm>
          <a:prstGeom prst="rect">
            <a:avLst/>
          </a:prstGeom>
          <a:noFill/>
          <a:ln/>
        </p:spPr>
        <p:txBody>
          <a:bodyPr wrap="square" rtlCol="0" anchor="ctr"/>
          <a:lstStyle/>
          <a:p>
            <a:pPr marL="0" indent="0">
              <a:lnSpc>
                <a:spcPts val="1400"/>
              </a:lnSpc>
              <a:buNone/>
            </a:pPr>
            <a:r>
              <a:rPr lang="en-US" sz="1150" dirty="0">
                <a:solidFill>
                  <a:srgbClr val="1B3A5C"/>
                </a:solidFill>
                <a:latin typeface="Calibri" pitchFamily="34" charset="0"/>
                <a:ea typeface="Calibri" pitchFamily="34" charset="-122"/>
                <a:cs typeface="Calibri" pitchFamily="34" charset="-120"/>
              </a:rPr>
              <a:t>PSD Connections timing and non-anonymity, confirmed via the Health District, June 2026.</a:t>
            </a:r>
            <a:endParaRPr lang="en-US" sz="1150" dirty="0"/>
          </a:p>
        </p:txBody>
      </p:sp>
      <p:sp>
        <p:nvSpPr>
          <p:cNvPr id="13" name="Shape 11"/>
          <p:cNvSpPr/>
          <p:nvPr/>
        </p:nvSpPr>
        <p:spPr>
          <a:xfrm>
            <a:off x="822960" y="5312664"/>
            <a:ext cx="91440" cy="91440"/>
          </a:xfrm>
          <a:prstGeom prst="line">
            <a:avLst/>
          </a:prstGeom>
          <a:solidFill>
            <a:srgbClr val="2066A8"/>
          </a:solidFill>
          <a:ln/>
        </p:spPr>
        <p:txBody>
          <a:bodyPr/>
          <a:lstStyle/>
          <a:p>
            <a:endParaRPr lang="en-US"/>
          </a:p>
        </p:txBody>
      </p:sp>
      <p:sp>
        <p:nvSpPr>
          <p:cNvPr id="14" name="Text 12"/>
          <p:cNvSpPr/>
          <p:nvPr/>
        </p:nvSpPr>
        <p:spPr>
          <a:xfrm>
            <a:off x="1051560" y="5184648"/>
            <a:ext cx="4800600" cy="685800"/>
          </a:xfrm>
          <a:prstGeom prst="rect">
            <a:avLst/>
          </a:prstGeom>
          <a:noFill/>
          <a:ln/>
        </p:spPr>
        <p:txBody>
          <a:bodyPr wrap="square" rtlCol="0" anchor="ctr"/>
          <a:lstStyle/>
          <a:p>
            <a:pPr marL="0" indent="0">
              <a:lnSpc>
                <a:spcPts val="1400"/>
              </a:lnSpc>
              <a:buNone/>
            </a:pPr>
            <a:r>
              <a:rPr lang="en-US" sz="1150" dirty="0">
                <a:solidFill>
                  <a:srgbClr val="1B3A5C"/>
                </a:solidFill>
                <a:latin typeface="Calibri" pitchFamily="34" charset="0"/>
                <a:ea typeface="Calibri" pitchFamily="34" charset="-122"/>
                <a:cs typeface="Calibri" pitchFamily="34" charset="-120"/>
              </a:rPr>
              <a:t>HKCS Q28 (trusted adult) wording and 3-point scale, verified against the 169-table regional report.</a:t>
            </a:r>
            <a:endParaRPr lang="en-US" sz="1150" dirty="0"/>
          </a:p>
        </p:txBody>
      </p:sp>
      <p:sp>
        <p:nvSpPr>
          <p:cNvPr id="15" name="Shape 13"/>
          <p:cNvSpPr/>
          <p:nvPr/>
        </p:nvSpPr>
        <p:spPr>
          <a:xfrm>
            <a:off x="6172200" y="2057400"/>
            <a:ext cx="5486400" cy="4160520"/>
          </a:xfrm>
          <a:prstGeom prst="roundRect">
            <a:avLst>
              <a:gd name="adj" fmla="val 1758"/>
            </a:avLst>
          </a:prstGeom>
          <a:solidFill>
            <a:srgbClr val="FBF3E3"/>
          </a:solidFill>
          <a:ln/>
        </p:spPr>
        <p:txBody>
          <a:bodyPr/>
          <a:lstStyle/>
          <a:p>
            <a:endParaRPr lang="en-US"/>
          </a:p>
        </p:txBody>
      </p:sp>
      <p:sp>
        <p:nvSpPr>
          <p:cNvPr id="16" name="Text 14"/>
          <p:cNvSpPr/>
          <p:nvPr/>
        </p:nvSpPr>
        <p:spPr>
          <a:xfrm>
            <a:off x="6492240" y="2286000"/>
            <a:ext cx="4937760" cy="365760"/>
          </a:xfrm>
          <a:prstGeom prst="rect">
            <a:avLst/>
          </a:prstGeom>
          <a:noFill/>
          <a:ln/>
        </p:spPr>
        <p:txBody>
          <a:bodyPr wrap="square" rtlCol="0" anchor="ctr"/>
          <a:lstStyle/>
          <a:p>
            <a:pPr marL="0" indent="0">
              <a:buNone/>
            </a:pPr>
            <a:r>
              <a:rPr lang="en-US" sz="1250" b="1" kern="0" spc="100" dirty="0">
                <a:solidFill>
                  <a:srgbClr val="B8860B"/>
                </a:solidFill>
                <a:latin typeface="Calibri" pitchFamily="34" charset="0"/>
                <a:ea typeface="Calibri" pitchFamily="34" charset="-122"/>
                <a:cs typeface="Calibri" pitchFamily="34" charset="-120"/>
              </a:rPr>
              <a:t>STILL OPEN</a:t>
            </a:r>
            <a:endParaRPr lang="en-US" sz="1250" dirty="0"/>
          </a:p>
        </p:txBody>
      </p:sp>
      <p:sp>
        <p:nvSpPr>
          <p:cNvPr id="17" name="Shape 15"/>
          <p:cNvSpPr/>
          <p:nvPr/>
        </p:nvSpPr>
        <p:spPr>
          <a:xfrm>
            <a:off x="6492240" y="2843784"/>
            <a:ext cx="91440" cy="91440"/>
          </a:xfrm>
          <a:prstGeom prst="line">
            <a:avLst/>
          </a:prstGeom>
          <a:solidFill>
            <a:srgbClr val="B8860B"/>
          </a:solidFill>
          <a:ln/>
        </p:spPr>
        <p:txBody>
          <a:bodyPr/>
          <a:lstStyle/>
          <a:p>
            <a:endParaRPr lang="en-US"/>
          </a:p>
        </p:txBody>
      </p:sp>
      <p:sp>
        <p:nvSpPr>
          <p:cNvPr id="18" name="Text 16"/>
          <p:cNvSpPr/>
          <p:nvPr/>
        </p:nvSpPr>
        <p:spPr>
          <a:xfrm>
            <a:off x="6720840" y="2715768"/>
            <a:ext cx="4800600" cy="777240"/>
          </a:xfrm>
          <a:prstGeom prst="rect">
            <a:avLst/>
          </a:prstGeom>
          <a:noFill/>
          <a:ln/>
        </p:spPr>
        <p:txBody>
          <a:bodyPr wrap="square" rtlCol="0" anchor="ctr"/>
          <a:lstStyle/>
          <a:p>
            <a:pPr marL="0" indent="0">
              <a:lnSpc>
                <a:spcPts val="1400"/>
              </a:lnSpc>
              <a:buNone/>
            </a:pPr>
            <a:r>
              <a:rPr lang="en-US" sz="1150" dirty="0">
                <a:solidFill>
                  <a:srgbClr val="1B3A5C"/>
                </a:solidFill>
                <a:latin typeface="Calibri" pitchFamily="34" charset="0"/>
                <a:ea typeface="Calibri" pitchFamily="34" charset="-122"/>
                <a:cs typeface="Calibri" pitchFamily="34" charset="-120"/>
              </a:rPr>
              <a:t>EPSD Panorama and CO-SPS administration timing is assumed, not confirmed by EPSD directly. Health District is following up.</a:t>
            </a:r>
            <a:endParaRPr lang="en-US" sz="1150" dirty="0"/>
          </a:p>
        </p:txBody>
      </p:sp>
      <p:sp>
        <p:nvSpPr>
          <p:cNvPr id="19" name="Shape 17"/>
          <p:cNvSpPr/>
          <p:nvPr/>
        </p:nvSpPr>
        <p:spPr>
          <a:xfrm>
            <a:off x="6492240" y="3758184"/>
            <a:ext cx="91440" cy="91440"/>
          </a:xfrm>
          <a:prstGeom prst="line">
            <a:avLst/>
          </a:prstGeom>
          <a:solidFill>
            <a:srgbClr val="B8860B"/>
          </a:solidFill>
          <a:ln/>
        </p:spPr>
        <p:txBody>
          <a:bodyPr/>
          <a:lstStyle/>
          <a:p>
            <a:endParaRPr lang="en-US"/>
          </a:p>
        </p:txBody>
      </p:sp>
      <p:sp>
        <p:nvSpPr>
          <p:cNvPr id="20" name="Text 18"/>
          <p:cNvSpPr/>
          <p:nvPr/>
        </p:nvSpPr>
        <p:spPr>
          <a:xfrm>
            <a:off x="6720840" y="3630168"/>
            <a:ext cx="4800600" cy="777240"/>
          </a:xfrm>
          <a:prstGeom prst="rect">
            <a:avLst/>
          </a:prstGeom>
          <a:noFill/>
          <a:ln/>
        </p:spPr>
        <p:txBody>
          <a:bodyPr wrap="square" rtlCol="0" anchor="ctr"/>
          <a:lstStyle/>
          <a:p>
            <a:pPr marL="0" indent="0">
              <a:lnSpc>
                <a:spcPts val="1400"/>
              </a:lnSpc>
              <a:buNone/>
            </a:pPr>
            <a:r>
              <a:rPr lang="en-US" sz="1150" dirty="0">
                <a:solidFill>
                  <a:srgbClr val="1B3A5C"/>
                </a:solidFill>
                <a:latin typeface="Calibri" pitchFamily="34" charset="0"/>
                <a:ea typeface="Calibri" pitchFamily="34" charset="-122"/>
                <a:cs typeface="Calibri" pitchFamily="34" charset="-120"/>
              </a:rPr>
              <a:t>The 54.2% help-seeking figure (T43) has not been located in the 169-table HKCS report; treated as provisional.</a:t>
            </a:r>
            <a:endParaRPr lang="en-US" sz="1150" dirty="0"/>
          </a:p>
        </p:txBody>
      </p:sp>
      <p:sp>
        <p:nvSpPr>
          <p:cNvPr id="21" name="Shape 19"/>
          <p:cNvSpPr/>
          <p:nvPr/>
        </p:nvSpPr>
        <p:spPr>
          <a:xfrm>
            <a:off x="6492240" y="4672584"/>
            <a:ext cx="91440" cy="91440"/>
          </a:xfrm>
          <a:prstGeom prst="line">
            <a:avLst/>
          </a:prstGeom>
          <a:solidFill>
            <a:srgbClr val="B8860B"/>
          </a:solidFill>
          <a:ln/>
        </p:spPr>
        <p:txBody>
          <a:bodyPr/>
          <a:lstStyle/>
          <a:p>
            <a:endParaRPr lang="en-US"/>
          </a:p>
        </p:txBody>
      </p:sp>
      <p:sp>
        <p:nvSpPr>
          <p:cNvPr id="22" name="Text 20"/>
          <p:cNvSpPr/>
          <p:nvPr/>
        </p:nvSpPr>
        <p:spPr>
          <a:xfrm>
            <a:off x="6720840" y="4544568"/>
            <a:ext cx="4800600" cy="777240"/>
          </a:xfrm>
          <a:prstGeom prst="rect">
            <a:avLst/>
          </a:prstGeom>
          <a:noFill/>
          <a:ln/>
        </p:spPr>
        <p:txBody>
          <a:bodyPr wrap="square" rtlCol="0" anchor="ctr"/>
          <a:lstStyle/>
          <a:p>
            <a:pPr marL="0" indent="0">
              <a:lnSpc>
                <a:spcPts val="1400"/>
              </a:lnSpc>
              <a:buNone/>
            </a:pPr>
            <a:r>
              <a:rPr lang="en-US" sz="1150" dirty="0">
                <a:solidFill>
                  <a:srgbClr val="1B3A5C"/>
                </a:solidFill>
                <a:latin typeface="Calibri" pitchFamily="34" charset="0"/>
                <a:ea typeface="Calibri" pitchFamily="34" charset="-122"/>
                <a:cs typeface="Calibri" pitchFamily="34" charset="-120"/>
              </a:rPr>
              <a:t>HKCS participation scope varies: TSD limited to select schools, EPSD status uncertain. County baseline should not be presented as any one district’s own result.</a:t>
            </a:r>
            <a:endParaRPr lang="en-US" sz="1150" dirty="0"/>
          </a:p>
        </p:txBody>
      </p:sp>
      <p:sp>
        <p:nvSpPr>
          <p:cNvPr id="23" name="Shape 21"/>
          <p:cNvSpPr/>
          <p:nvPr/>
        </p:nvSpPr>
        <p:spPr>
          <a:xfrm>
            <a:off x="6492240" y="5586984"/>
            <a:ext cx="91440" cy="91440"/>
          </a:xfrm>
          <a:prstGeom prst="line">
            <a:avLst/>
          </a:prstGeom>
          <a:solidFill>
            <a:srgbClr val="B8860B"/>
          </a:solidFill>
          <a:ln/>
        </p:spPr>
        <p:txBody>
          <a:bodyPr/>
          <a:lstStyle/>
          <a:p>
            <a:endParaRPr lang="en-US"/>
          </a:p>
        </p:txBody>
      </p:sp>
      <p:sp>
        <p:nvSpPr>
          <p:cNvPr id="24" name="Text 22"/>
          <p:cNvSpPr/>
          <p:nvPr/>
        </p:nvSpPr>
        <p:spPr>
          <a:xfrm>
            <a:off x="6720840" y="5458968"/>
            <a:ext cx="4800600" cy="777240"/>
          </a:xfrm>
          <a:prstGeom prst="rect">
            <a:avLst/>
          </a:prstGeom>
          <a:noFill/>
          <a:ln/>
        </p:spPr>
        <p:txBody>
          <a:bodyPr wrap="square" rtlCol="0" anchor="ctr"/>
          <a:lstStyle/>
          <a:p>
            <a:pPr marL="0" indent="0">
              <a:lnSpc>
                <a:spcPts val="1400"/>
              </a:lnSpc>
              <a:buNone/>
            </a:pPr>
            <a:r>
              <a:rPr lang="en-US" sz="1150" dirty="0">
                <a:solidFill>
                  <a:srgbClr val="1B3A5C"/>
                </a:solidFill>
                <a:latin typeface="Calibri" pitchFamily="34" charset="0"/>
                <a:ea typeface="Calibri" pitchFamily="34" charset="-122"/>
                <a:cs typeface="Calibri" pitchFamily="34" charset="-120"/>
              </a:rPr>
              <a:t>PSD’s internal composite scoring may group items differently than this crosswalk; confirm with Dayna Hudson before using PSD’s named composites as construct proxies.</a:t>
            </a:r>
            <a:endParaRPr lang="en-US" sz="1150" dirty="0"/>
          </a:p>
        </p:txBody>
      </p:sp>
      <p:sp>
        <p:nvSpPr>
          <p:cNvPr id="25" name="Text 23"/>
          <p:cNvSpPr/>
          <p:nvPr/>
        </p:nvSpPr>
        <p:spPr>
          <a:xfrm>
            <a:off x="457200" y="6537960"/>
            <a:ext cx="8686800"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Source: Survey Crosswalk Workbook (D3), Sheet 12 — Verification Notes</a:t>
            </a:r>
            <a:endParaRPr lang="en-US" sz="900" dirty="0"/>
          </a:p>
        </p:txBody>
      </p:sp>
      <p:sp>
        <p:nvSpPr>
          <p:cNvPr id="26" name="Text 2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marL="0" indent="0">
              <a:buNone/>
            </a:pPr>
            <a:r>
              <a:rPr lang="en-US" sz="1250" b="1" kern="0" spc="150" dirty="0">
                <a:solidFill>
                  <a:srgbClr val="2066A8"/>
                </a:solidFill>
                <a:latin typeface="Calibri" pitchFamily="34" charset="0"/>
                <a:ea typeface="Calibri" pitchFamily="34" charset="-122"/>
                <a:cs typeface="Calibri" pitchFamily="34" charset="-120"/>
              </a:rPr>
              <a:t>NEXT STEPS</a:t>
            </a:r>
            <a:endParaRPr lang="en-US" sz="1250" dirty="0"/>
          </a:p>
        </p:txBody>
      </p:sp>
      <p:sp>
        <p:nvSpPr>
          <p:cNvPr id="3" name="Text 1"/>
          <p:cNvSpPr/>
          <p:nvPr/>
        </p:nvSpPr>
        <p:spPr>
          <a:xfrm>
            <a:off x="502920" y="685800"/>
            <a:ext cx="11155680" cy="777240"/>
          </a:xfrm>
          <a:prstGeom prst="rect">
            <a:avLst/>
          </a:prstGeom>
          <a:noFill/>
          <a:ln/>
        </p:spPr>
        <p:txBody>
          <a:bodyPr wrap="square" rtlCol="0" anchor="ctr"/>
          <a:lstStyle/>
          <a:p>
            <a:pPr marL="0" indent="0">
              <a:buNone/>
            </a:pPr>
            <a:r>
              <a:rPr lang="en-US" sz="2900" b="1" dirty="0">
                <a:solidFill>
                  <a:srgbClr val="1B3A5C"/>
                </a:solidFill>
                <a:latin typeface="Cambria" pitchFamily="34" charset="0"/>
                <a:ea typeface="Cambria" pitchFamily="34" charset="-122"/>
                <a:cs typeface="Cambria" pitchFamily="34" charset="-120"/>
              </a:rPr>
              <a:t>Where this project goes from here</a:t>
            </a:r>
            <a:endParaRPr lang="en-US" sz="2900" dirty="0"/>
          </a:p>
        </p:txBody>
      </p:sp>
      <p:sp>
        <p:nvSpPr>
          <p:cNvPr id="4" name="Shape 2"/>
          <p:cNvSpPr/>
          <p:nvPr/>
        </p:nvSpPr>
        <p:spPr>
          <a:xfrm>
            <a:off x="502920" y="1691640"/>
            <a:ext cx="3657600" cy="3566160"/>
          </a:xfrm>
          <a:prstGeom prst="roundRect">
            <a:avLst>
              <a:gd name="adj" fmla="val 2051"/>
            </a:avLst>
          </a:prstGeom>
          <a:solidFill>
            <a:srgbClr val="FFFFFF"/>
          </a:solidFill>
          <a:ln w="12700">
            <a:solidFill>
              <a:srgbClr val="D7E0E8"/>
            </a:solidFill>
            <a:prstDash val="solid"/>
          </a:ln>
        </p:spPr>
        <p:txBody>
          <a:bodyPr/>
          <a:lstStyle/>
          <a:p>
            <a:endParaRPr lang="en-US"/>
          </a:p>
        </p:txBody>
      </p:sp>
      <p:sp>
        <p:nvSpPr>
          <p:cNvPr id="5" name="Shape 3"/>
          <p:cNvSpPr/>
          <p:nvPr/>
        </p:nvSpPr>
        <p:spPr>
          <a:xfrm>
            <a:off x="822960" y="2011680"/>
            <a:ext cx="685800" cy="685800"/>
          </a:xfrm>
          <a:prstGeom prst="ellipse">
            <a:avLst/>
          </a:prstGeom>
          <a:solidFill>
            <a:srgbClr val="2066A8"/>
          </a:solidFill>
          <a:ln/>
        </p:spPr>
        <p:txBody>
          <a:bodyPr/>
          <a:lstStyle/>
          <a:p>
            <a:endParaRPr lang="en-US"/>
          </a:p>
        </p:txBody>
      </p:sp>
      <p:pic>
        <p:nvPicPr>
          <p:cNvPr id="6" name="Image 0" descr="/home/claude/deck/icon_clipboard_white.png"/>
          <p:cNvPicPr>
            <a:picLocks noChangeAspect="1"/>
          </p:cNvPicPr>
          <p:nvPr/>
        </p:nvPicPr>
        <p:blipFill>
          <a:blip r:embed="rId3"/>
          <a:stretch>
            <a:fillRect/>
          </a:stretch>
        </p:blipFill>
        <p:spPr>
          <a:xfrm>
            <a:off x="1005840" y="2194560"/>
            <a:ext cx="320040" cy="320040"/>
          </a:xfrm>
          <a:prstGeom prst="rect">
            <a:avLst/>
          </a:prstGeom>
        </p:spPr>
      </p:pic>
      <p:sp>
        <p:nvSpPr>
          <p:cNvPr id="7" name="Text 4"/>
          <p:cNvSpPr/>
          <p:nvPr/>
        </p:nvSpPr>
        <p:spPr>
          <a:xfrm>
            <a:off x="777240" y="2834640"/>
            <a:ext cx="3108960" cy="685800"/>
          </a:xfrm>
          <a:prstGeom prst="rect">
            <a:avLst/>
          </a:prstGeom>
          <a:noFill/>
          <a:ln/>
        </p:spPr>
        <p:txBody>
          <a:bodyPr wrap="square" rtlCol="0" anchor="ctr"/>
          <a:lstStyle/>
          <a:p>
            <a:pPr marL="0" indent="0">
              <a:lnSpc>
                <a:spcPts val="1800"/>
              </a:lnSpc>
              <a:buNone/>
            </a:pPr>
            <a:r>
              <a:rPr lang="en-US" sz="1550" b="1" dirty="0">
                <a:solidFill>
                  <a:srgbClr val="1B3A5C"/>
                </a:solidFill>
                <a:latin typeface="Cambria" pitchFamily="34" charset="0"/>
                <a:ea typeface="Cambria" pitchFamily="34" charset="-122"/>
                <a:cs typeface="Cambria" pitchFamily="34" charset="-120"/>
              </a:rPr>
              <a:t>Internship Closeout</a:t>
            </a:r>
            <a:endParaRPr lang="en-US" sz="1550" dirty="0"/>
          </a:p>
        </p:txBody>
      </p:sp>
      <p:sp>
        <p:nvSpPr>
          <p:cNvPr id="8" name="Text 5"/>
          <p:cNvSpPr/>
          <p:nvPr/>
        </p:nvSpPr>
        <p:spPr>
          <a:xfrm>
            <a:off x="777240" y="3520440"/>
            <a:ext cx="3108960" cy="1645920"/>
          </a:xfrm>
          <a:prstGeom prst="rect">
            <a:avLst/>
          </a:prstGeom>
          <a:noFill/>
          <a:ln/>
        </p:spPr>
        <p:txBody>
          <a:bodyPr wrap="square" rtlCol="0" anchor="ctr"/>
          <a:lstStyle/>
          <a:p>
            <a:pPr marL="0" indent="0">
              <a:lnSpc>
                <a:spcPts val="1500"/>
              </a:lnSpc>
              <a:buNone/>
            </a:pPr>
            <a:r>
              <a:rPr lang="en-US" sz="1150" dirty="0">
                <a:solidFill>
                  <a:srgbClr val="5A6B7A"/>
                </a:solidFill>
                <a:latin typeface="Calibri" pitchFamily="34" charset="0"/>
                <a:ea typeface="Calibri" pitchFamily="34" charset="-122"/>
                <a:cs typeface="Calibri" pitchFamily="34" charset="-120"/>
              </a:rPr>
              <a:t>D4 is reviewed and approved. Final meeting with Shelley to close out the internship and hand off the completed deliverables.</a:t>
            </a:r>
            <a:endParaRPr lang="en-US" sz="1150" dirty="0"/>
          </a:p>
        </p:txBody>
      </p:sp>
      <p:sp>
        <p:nvSpPr>
          <p:cNvPr id="9" name="Shape 6"/>
          <p:cNvSpPr/>
          <p:nvPr/>
        </p:nvSpPr>
        <p:spPr>
          <a:xfrm>
            <a:off x="4389120" y="1691640"/>
            <a:ext cx="3657600" cy="3566160"/>
          </a:xfrm>
          <a:prstGeom prst="roundRect">
            <a:avLst>
              <a:gd name="adj" fmla="val 2051"/>
            </a:avLst>
          </a:prstGeom>
          <a:solidFill>
            <a:srgbClr val="FFFFFF"/>
          </a:solidFill>
          <a:ln w="12700">
            <a:solidFill>
              <a:srgbClr val="D7E0E8"/>
            </a:solidFill>
            <a:prstDash val="solid"/>
          </a:ln>
        </p:spPr>
        <p:txBody>
          <a:bodyPr/>
          <a:lstStyle/>
          <a:p>
            <a:endParaRPr lang="en-US"/>
          </a:p>
        </p:txBody>
      </p:sp>
      <p:sp>
        <p:nvSpPr>
          <p:cNvPr id="10" name="Shape 7"/>
          <p:cNvSpPr/>
          <p:nvPr/>
        </p:nvSpPr>
        <p:spPr>
          <a:xfrm>
            <a:off x="4709160" y="2011680"/>
            <a:ext cx="685800" cy="685800"/>
          </a:xfrm>
          <a:prstGeom prst="ellipse">
            <a:avLst/>
          </a:prstGeom>
          <a:solidFill>
            <a:srgbClr val="2066A8"/>
          </a:solidFill>
          <a:ln/>
        </p:spPr>
        <p:txBody>
          <a:bodyPr/>
          <a:lstStyle/>
          <a:p>
            <a:endParaRPr lang="en-US"/>
          </a:p>
        </p:txBody>
      </p:sp>
      <p:pic>
        <p:nvPicPr>
          <p:cNvPr id="11" name="Image 1" descr="/home/claude/deck/icon_comment_white.png"/>
          <p:cNvPicPr>
            <a:picLocks noChangeAspect="1"/>
          </p:cNvPicPr>
          <p:nvPr/>
        </p:nvPicPr>
        <p:blipFill>
          <a:blip r:embed="rId4"/>
          <a:stretch>
            <a:fillRect/>
          </a:stretch>
        </p:blipFill>
        <p:spPr>
          <a:xfrm>
            <a:off x="4892040" y="2194560"/>
            <a:ext cx="320040" cy="320040"/>
          </a:xfrm>
          <a:prstGeom prst="rect">
            <a:avLst/>
          </a:prstGeom>
        </p:spPr>
      </p:pic>
      <p:sp>
        <p:nvSpPr>
          <p:cNvPr id="12" name="Text 8"/>
          <p:cNvSpPr/>
          <p:nvPr/>
        </p:nvSpPr>
        <p:spPr>
          <a:xfrm>
            <a:off x="4663440" y="2834640"/>
            <a:ext cx="3108960" cy="685800"/>
          </a:xfrm>
          <a:prstGeom prst="rect">
            <a:avLst/>
          </a:prstGeom>
          <a:noFill/>
          <a:ln/>
        </p:spPr>
        <p:txBody>
          <a:bodyPr wrap="square" rtlCol="0" anchor="ctr"/>
          <a:lstStyle/>
          <a:p>
            <a:pPr marL="0" indent="0">
              <a:lnSpc>
                <a:spcPts val="1800"/>
              </a:lnSpc>
              <a:buNone/>
            </a:pPr>
            <a:r>
              <a:rPr lang="en-US" sz="1550" b="1" dirty="0">
                <a:solidFill>
                  <a:srgbClr val="1B3A5C"/>
                </a:solidFill>
                <a:latin typeface="Cambria" pitchFamily="34" charset="0"/>
                <a:ea typeface="Cambria" pitchFamily="34" charset="-122"/>
                <a:cs typeface="Cambria" pitchFamily="34" charset="-120"/>
              </a:rPr>
              <a:t>External Stakeholder Materials</a:t>
            </a:r>
            <a:endParaRPr lang="en-US" sz="1550" dirty="0"/>
          </a:p>
        </p:txBody>
      </p:sp>
      <p:sp>
        <p:nvSpPr>
          <p:cNvPr id="13" name="Text 9"/>
          <p:cNvSpPr/>
          <p:nvPr/>
        </p:nvSpPr>
        <p:spPr>
          <a:xfrm>
            <a:off x="4663440" y="3520440"/>
            <a:ext cx="3108960" cy="1645920"/>
          </a:xfrm>
          <a:prstGeom prst="rect">
            <a:avLst/>
          </a:prstGeom>
          <a:noFill/>
          <a:ln/>
        </p:spPr>
        <p:txBody>
          <a:bodyPr wrap="square" rtlCol="0" anchor="ctr"/>
          <a:lstStyle/>
          <a:p>
            <a:pPr marL="0" indent="0">
              <a:lnSpc>
                <a:spcPts val="1500"/>
              </a:lnSpc>
              <a:buNone/>
            </a:pPr>
            <a:r>
              <a:rPr lang="en-US" sz="1150" dirty="0">
                <a:solidFill>
                  <a:srgbClr val="5A6B7A"/>
                </a:solidFill>
                <a:latin typeface="Calibri" pitchFamily="34" charset="0"/>
                <a:ea typeface="Calibri" pitchFamily="34" charset="-122"/>
                <a:cs typeface="Calibri" pitchFamily="34" charset="-120"/>
              </a:rPr>
              <a:t>Briefs, slide notes, and summaries built now so they are ready the moment districts have capacity to engage this fall.</a:t>
            </a:r>
            <a:endParaRPr lang="en-US" sz="1150" dirty="0"/>
          </a:p>
        </p:txBody>
      </p:sp>
      <p:sp>
        <p:nvSpPr>
          <p:cNvPr id="14" name="Shape 10"/>
          <p:cNvSpPr/>
          <p:nvPr/>
        </p:nvSpPr>
        <p:spPr>
          <a:xfrm>
            <a:off x="8275320" y="1691640"/>
            <a:ext cx="3657600" cy="3566160"/>
          </a:xfrm>
          <a:prstGeom prst="roundRect">
            <a:avLst>
              <a:gd name="adj" fmla="val 2051"/>
            </a:avLst>
          </a:prstGeom>
          <a:solidFill>
            <a:srgbClr val="FFFFFF"/>
          </a:solidFill>
          <a:ln w="12700">
            <a:solidFill>
              <a:srgbClr val="D7E0E8"/>
            </a:solidFill>
            <a:prstDash val="solid"/>
          </a:ln>
        </p:spPr>
        <p:txBody>
          <a:bodyPr/>
          <a:lstStyle/>
          <a:p>
            <a:endParaRPr lang="en-US"/>
          </a:p>
        </p:txBody>
      </p:sp>
      <p:sp>
        <p:nvSpPr>
          <p:cNvPr id="15" name="Shape 11"/>
          <p:cNvSpPr/>
          <p:nvPr/>
        </p:nvSpPr>
        <p:spPr>
          <a:xfrm>
            <a:off x="8595360" y="2011680"/>
            <a:ext cx="685800" cy="685800"/>
          </a:xfrm>
          <a:prstGeom prst="ellipse">
            <a:avLst/>
          </a:prstGeom>
          <a:solidFill>
            <a:srgbClr val="2066A8"/>
          </a:solidFill>
          <a:ln/>
        </p:spPr>
        <p:txBody>
          <a:bodyPr/>
          <a:lstStyle/>
          <a:p>
            <a:endParaRPr lang="en-US"/>
          </a:p>
        </p:txBody>
      </p:sp>
      <p:pic>
        <p:nvPicPr>
          <p:cNvPr id="16" name="Image 2" descr="/home/claude/deck/icon_route_white.png"/>
          <p:cNvPicPr>
            <a:picLocks noChangeAspect="1"/>
          </p:cNvPicPr>
          <p:nvPr/>
        </p:nvPicPr>
        <p:blipFill>
          <a:blip r:embed="rId5"/>
          <a:stretch>
            <a:fillRect/>
          </a:stretch>
        </p:blipFill>
        <p:spPr>
          <a:xfrm>
            <a:off x="8778240" y="2194560"/>
            <a:ext cx="320040" cy="320040"/>
          </a:xfrm>
          <a:prstGeom prst="rect">
            <a:avLst/>
          </a:prstGeom>
        </p:spPr>
      </p:pic>
      <p:sp>
        <p:nvSpPr>
          <p:cNvPr id="17" name="Text 12"/>
          <p:cNvSpPr/>
          <p:nvPr/>
        </p:nvSpPr>
        <p:spPr>
          <a:xfrm>
            <a:off x="8549640" y="2834640"/>
            <a:ext cx="3108960" cy="685800"/>
          </a:xfrm>
          <a:prstGeom prst="rect">
            <a:avLst/>
          </a:prstGeom>
          <a:noFill/>
          <a:ln/>
        </p:spPr>
        <p:txBody>
          <a:bodyPr wrap="square" rtlCol="0" anchor="ctr"/>
          <a:lstStyle/>
          <a:p>
            <a:pPr marL="0" indent="0">
              <a:lnSpc>
                <a:spcPts val="1800"/>
              </a:lnSpc>
              <a:buNone/>
            </a:pPr>
            <a:r>
              <a:rPr lang="en-US" sz="1550" b="1" dirty="0">
                <a:solidFill>
                  <a:srgbClr val="1B3A5C"/>
                </a:solidFill>
                <a:latin typeface="Cambria" pitchFamily="34" charset="0"/>
                <a:ea typeface="Cambria" pitchFamily="34" charset="-122"/>
                <a:cs typeface="Cambria" pitchFamily="34" charset="-120"/>
              </a:rPr>
              <a:t>District Engagement</a:t>
            </a:r>
            <a:endParaRPr lang="en-US" sz="1550" dirty="0"/>
          </a:p>
        </p:txBody>
      </p:sp>
      <p:sp>
        <p:nvSpPr>
          <p:cNvPr id="18" name="Text 13"/>
          <p:cNvSpPr/>
          <p:nvPr/>
        </p:nvSpPr>
        <p:spPr>
          <a:xfrm>
            <a:off x="8549640" y="3520440"/>
            <a:ext cx="3108960" cy="1645920"/>
          </a:xfrm>
          <a:prstGeom prst="rect">
            <a:avLst/>
          </a:prstGeom>
          <a:noFill/>
          <a:ln/>
        </p:spPr>
        <p:txBody>
          <a:bodyPr wrap="square" rtlCol="0" anchor="ctr"/>
          <a:lstStyle/>
          <a:p>
            <a:pPr marL="0" indent="0">
              <a:lnSpc>
                <a:spcPts val="1500"/>
              </a:lnSpc>
              <a:buNone/>
            </a:pPr>
            <a:r>
              <a:rPr lang="en-US" sz="1150" dirty="0">
                <a:solidFill>
                  <a:srgbClr val="5A6B7A"/>
                </a:solidFill>
                <a:latin typeface="Calibri" pitchFamily="34" charset="0"/>
                <a:ea typeface="Calibri" pitchFamily="34" charset="-122"/>
                <a:cs typeface="Calibri" pitchFamily="34" charset="-120"/>
              </a:rPr>
              <a:t>Share the recommendation package with EPSD, PSD, and TSD leadership once summer staffing constraints ease.</a:t>
            </a:r>
            <a:endParaRPr lang="en-US" sz="1150" dirty="0"/>
          </a:p>
        </p:txBody>
      </p:sp>
      <p:sp>
        <p:nvSpPr>
          <p:cNvPr id="20" name="Text 15"/>
          <p:cNvSpPr/>
          <p:nvPr/>
        </p:nvSpPr>
        <p:spPr>
          <a:xfrm>
            <a:off x="822960" y="5486400"/>
            <a:ext cx="10515600" cy="777240"/>
          </a:xfrm>
          <a:prstGeom prst="rect">
            <a:avLst/>
          </a:prstGeom>
          <a:noFill/>
          <a:ln/>
        </p:spPr>
        <p:txBody>
          <a:bodyPr wrap="square"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The project is currently ahead of the original 16-week schedule, with four of six deliverables completed and approved.</a:t>
            </a:r>
            <a:endParaRPr lang="en-US" sz="1300" dirty="0"/>
          </a:p>
        </p:txBody>
      </p:sp>
      <p:sp>
        <p:nvSpPr>
          <p:cNvPr id="21" name="Text 16"/>
          <p:cNvSpPr/>
          <p:nvPr/>
        </p:nvSpPr>
        <p:spPr>
          <a:xfrm>
            <a:off x="457200" y="6537960"/>
            <a:ext cx="8686800" cy="274320"/>
          </a:xfrm>
          <a:prstGeom prst="rect">
            <a:avLst/>
          </a:prstGeom>
          <a:noFill/>
          <a:ln/>
        </p:spPr>
        <p:txBody>
          <a:bodyPr wrap="square" rtlCol="0" anchor="ctr"/>
          <a:lstStyle/>
          <a:p>
            <a:pPr marL="0" indent="0" algn="l">
              <a:buNone/>
            </a:pPr>
            <a:r>
              <a:rPr lang="en-US" sz="900" dirty="0">
                <a:solidFill>
                  <a:srgbClr val="5A6B7A"/>
                </a:solidFill>
                <a:latin typeface="Calibri" pitchFamily="34" charset="0"/>
                <a:ea typeface="Calibri" pitchFamily="34" charset="-122"/>
                <a:cs typeface="Calibri" pitchFamily="34" charset="-120"/>
              </a:rPr>
              <a:t>MHSU Alliance Internship, Health District of Northern Larimer County</a:t>
            </a:r>
            <a:endParaRPr lang="en-US" sz="900" dirty="0"/>
          </a:p>
        </p:txBody>
      </p:sp>
      <p:sp>
        <p:nvSpPr>
          <p:cNvPr id="22" name="Text 1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293F"/>
        </a:solidFill>
        <a:effectLst/>
      </p:bgPr>
    </p:bg>
    <p:spTree>
      <p:nvGrpSpPr>
        <p:cNvPr id="1" name=""/>
        <p:cNvGrpSpPr/>
        <p:nvPr/>
      </p:nvGrpSpPr>
      <p:grpSpPr>
        <a:xfrm>
          <a:off x="0" y="0"/>
          <a:ext cx="0" cy="0"/>
          <a:chOff x="0" y="0"/>
          <a:chExt cx="0" cy="0"/>
        </a:xfrm>
      </p:grpSpPr>
      <p:sp>
        <p:nvSpPr>
          <p:cNvPr id="2" name="Shape 0"/>
          <p:cNvSpPr/>
          <p:nvPr/>
        </p:nvSpPr>
        <p:spPr>
          <a:xfrm>
            <a:off x="-1828800" y="-2011680"/>
            <a:ext cx="5029200" cy="5029200"/>
          </a:xfrm>
          <a:prstGeom prst="ellipse">
            <a:avLst/>
          </a:prstGeom>
          <a:solidFill>
            <a:srgbClr val="1B3A5C">
              <a:alpha val="60000"/>
            </a:srgbClr>
          </a:solidFill>
          <a:ln/>
        </p:spPr>
        <p:txBody>
          <a:bodyPr/>
          <a:lstStyle/>
          <a:p>
            <a:endParaRPr lang="en-US"/>
          </a:p>
        </p:txBody>
      </p:sp>
      <p:sp>
        <p:nvSpPr>
          <p:cNvPr id="3" name="Shape 1"/>
          <p:cNvSpPr/>
          <p:nvPr/>
        </p:nvSpPr>
        <p:spPr>
          <a:xfrm>
            <a:off x="-1097280" y="-1188720"/>
            <a:ext cx="3474720" cy="3474720"/>
          </a:xfrm>
          <a:prstGeom prst="ellipse">
            <a:avLst/>
          </a:prstGeom>
          <a:solidFill>
            <a:srgbClr val="2066A8">
              <a:alpha val="45000"/>
            </a:srgbClr>
          </a:solidFill>
          <a:ln/>
        </p:spPr>
        <p:txBody>
          <a:bodyPr/>
          <a:lstStyle/>
          <a:p>
            <a:endParaRPr lang="en-US"/>
          </a:p>
        </p:txBody>
      </p:sp>
      <p:sp>
        <p:nvSpPr>
          <p:cNvPr id="4" name="Text 2"/>
          <p:cNvSpPr/>
          <p:nvPr/>
        </p:nvSpPr>
        <p:spPr>
          <a:xfrm>
            <a:off x="640080" y="2286000"/>
            <a:ext cx="7315200" cy="91440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Discussion</a:t>
            </a:r>
            <a:endParaRPr lang="en-US" sz="4000" dirty="0"/>
          </a:p>
        </p:txBody>
      </p:sp>
      <p:sp>
        <p:nvSpPr>
          <p:cNvPr id="6" name="Text 4"/>
          <p:cNvSpPr/>
          <p:nvPr/>
        </p:nvSpPr>
        <p:spPr>
          <a:xfrm>
            <a:off x="640080" y="6035040"/>
            <a:ext cx="8229600" cy="365760"/>
          </a:xfrm>
          <a:prstGeom prst="rect">
            <a:avLst/>
          </a:prstGeom>
          <a:noFill/>
          <a:ln/>
        </p:spPr>
        <p:txBody>
          <a:bodyPr wrap="square" rtlCol="0" anchor="ctr"/>
          <a:lstStyle/>
          <a:p>
            <a:pPr marL="0" indent="0">
              <a:buNone/>
            </a:pPr>
            <a:r>
              <a:rPr lang="en-US" sz="1200" dirty="0">
                <a:solidFill>
                  <a:srgbClr val="9FB3C8"/>
                </a:solidFill>
                <a:latin typeface="Calibri" pitchFamily="34" charset="0"/>
                <a:ea typeface="Calibri" pitchFamily="34" charset="-122"/>
                <a:cs typeface="Calibri" pitchFamily="34" charset="-120"/>
              </a:rPr>
              <a:t>Selorm Buaka  </a:t>
            </a:r>
            <a:endParaRPr lang="en-US" sz="1200" dirty="0"/>
          </a:p>
        </p:txBody>
      </p:sp>
      <p:sp>
        <p:nvSpPr>
          <p:cNvPr id="7" name="Text 5"/>
          <p:cNvSpPr/>
          <p:nvPr/>
        </p:nvSpPr>
        <p:spPr>
          <a:xfrm>
            <a:off x="640080" y="6355080"/>
            <a:ext cx="8229600" cy="365760"/>
          </a:xfrm>
          <a:prstGeom prst="rect">
            <a:avLst/>
          </a:prstGeom>
          <a:noFill/>
          <a:ln/>
        </p:spPr>
        <p:txBody>
          <a:bodyPr wrap="square" rtlCol="0" anchor="ctr"/>
          <a:lstStyle/>
          <a:p>
            <a:pPr marL="0" indent="0">
              <a:buNone/>
            </a:pPr>
            <a:r>
              <a:rPr lang="en-US" sz="1100" dirty="0">
                <a:solidFill>
                  <a:srgbClr val="6E85A0"/>
                </a:solidFill>
                <a:latin typeface="Calibri" pitchFamily="34" charset="0"/>
                <a:ea typeface="Calibri" pitchFamily="34" charset="-122"/>
                <a:cs typeface="Calibri" pitchFamily="34" charset="-120"/>
              </a:rPr>
              <a:t>MHSU Alliance Internship  |  Health District of Northern Larimer County  |  Summer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1353</TotalTime>
  <Words>4007</Words>
  <Application>Microsoft Office PowerPoint</Application>
  <PresentationFormat>Widescreen</PresentationFormat>
  <Paragraphs>254</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Selorm Buaka</cp:lastModifiedBy>
  <cp:revision>2</cp:revision>
  <dcterms:created xsi:type="dcterms:W3CDTF">2026-08-12T17:19:28Z</dcterms:created>
  <dcterms:modified xsi:type="dcterms:W3CDTF">2026-08-28T18:56:45Z</dcterms:modified>
</cp:coreProperties>
</file>